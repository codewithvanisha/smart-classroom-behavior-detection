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30" r:id="rId1"/>
  </p:sldMasterIdLst>
  <p:notesMasterIdLst>
    <p:notesMasterId r:id="rId14"/>
  </p:notesMasterIdLst>
  <p:sldIdLst>
    <p:sldId id="483" r:id="rId2"/>
    <p:sldId id="484" r:id="rId3"/>
    <p:sldId id="470" r:id="rId4"/>
    <p:sldId id="488" r:id="rId5"/>
    <p:sldId id="478" r:id="rId6"/>
    <p:sldId id="482" r:id="rId7"/>
    <p:sldId id="489" r:id="rId8"/>
    <p:sldId id="490" r:id="rId9"/>
    <p:sldId id="491" r:id="rId10"/>
    <p:sldId id="487" r:id="rId11"/>
    <p:sldId id="473" r:id="rId12"/>
    <p:sldId id="468" r:id="rId13"/>
  </p:sldIdLst>
  <p:sldSz cx="12192000" cy="6858000"/>
  <p:notesSz cx="6954838"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180"/>
    <a:srgbClr val="FF330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47" autoAdjust="0"/>
    <p:restoredTop sz="94434" autoAdjust="0"/>
  </p:normalViewPr>
  <p:slideViewPr>
    <p:cSldViewPr snapToGrid="0">
      <p:cViewPr varScale="1">
        <p:scale>
          <a:sx n="82" d="100"/>
          <a:sy n="82" d="100"/>
        </p:scale>
        <p:origin x="941" y="72"/>
      </p:cViewPr>
      <p:guideLst>
        <p:guide orient="horz" pos="2160"/>
        <p:guide pos="3840"/>
      </p:guideLst>
    </p:cSldViewPr>
  </p:slideViewPr>
  <p:notesTextViewPr>
    <p:cViewPr>
      <p:scale>
        <a:sx n="1" d="1"/>
        <a:sy n="1" d="1"/>
      </p:scale>
      <p:origin x="0" y="0"/>
    </p:cViewPr>
  </p:notesTextViewPr>
  <p:sorterViewPr>
    <p:cViewPr>
      <p:scale>
        <a:sx n="100" d="100"/>
        <a:sy n="100" d="100"/>
      </p:scale>
      <p:origin x="0" y="-2893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ptasanyal@outlook.com" userId="c704e7704b5fd2fc" providerId="LiveId" clId="{6FFFCB3A-676E-4A82-8CA8-8ADD8ED07B01}"/>
    <pc:docChg chg="modSld">
      <pc:chgData name="saptasanyal@outlook.com" userId="c704e7704b5fd2fc" providerId="LiveId" clId="{6FFFCB3A-676E-4A82-8CA8-8ADD8ED07B01}" dt="2026-07-20T03:33:04.076" v="98" actId="207"/>
      <pc:docMkLst>
        <pc:docMk/>
      </pc:docMkLst>
      <pc:sldChg chg="modSp mod">
        <pc:chgData name="saptasanyal@outlook.com" userId="c704e7704b5fd2fc" providerId="LiveId" clId="{6FFFCB3A-676E-4A82-8CA8-8ADD8ED07B01}" dt="2026-07-20T03:33:04.076" v="98" actId="207"/>
        <pc:sldMkLst>
          <pc:docMk/>
          <pc:sldMk cId="3090239800" sldId="483"/>
        </pc:sldMkLst>
        <pc:spChg chg="mod">
          <ac:chgData name="saptasanyal@outlook.com" userId="c704e7704b5fd2fc" providerId="LiveId" clId="{6FFFCB3A-676E-4A82-8CA8-8ADD8ED07B01}" dt="2026-07-20T03:33:04.076" v="98" actId="207"/>
          <ac:spMkLst>
            <pc:docMk/>
            <pc:sldMk cId="3090239800" sldId="483"/>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91A9256-F9C8-48F3-9246-288820D1979F}"/>
              </a:ext>
            </a:extLst>
          </p:cNvPr>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1608C6F2-4266-4213-8BF4-8EA0CDC970FA}"/>
              </a:ext>
            </a:extLst>
          </p:cNvPr>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cs typeface="+mn-cs"/>
              </a:defRPr>
            </a:lvl1pPr>
          </a:lstStyle>
          <a:p>
            <a:pPr>
              <a:defRPr/>
            </a:pPr>
            <a:fld id="{5AA20220-E8D3-4BE8-9E9D-D5B982467646}" type="datetimeFigureOut">
              <a:rPr lang="en-US"/>
              <a:pPr>
                <a:defRPr/>
              </a:pPr>
              <a:t>7/21/2026</a:t>
            </a:fld>
            <a:endParaRPr lang="en-US"/>
          </a:p>
        </p:txBody>
      </p:sp>
      <p:sp>
        <p:nvSpPr>
          <p:cNvPr id="4" name="Slide Image Placeholder 3">
            <a:extLst>
              <a:ext uri="{FF2B5EF4-FFF2-40B4-BE49-F238E27FC236}">
                <a16:creationId xmlns:a16="http://schemas.microsoft.com/office/drawing/2014/main" id="{8B13A30F-9520-44F4-81B2-1BCC447DE50D}"/>
              </a:ext>
            </a:extLst>
          </p:cNvPr>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a:extLst>
              <a:ext uri="{FF2B5EF4-FFF2-40B4-BE49-F238E27FC236}">
                <a16:creationId xmlns:a16="http://schemas.microsoft.com/office/drawing/2014/main" id="{4266252B-3FF1-4DA9-A03B-C61619A4108A}"/>
              </a:ext>
            </a:extLst>
          </p:cNvPr>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77DEBF4-55D6-4B92-B2C6-9B4374F6BE7F}"/>
              </a:ext>
            </a:extLst>
          </p:cNvPr>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7B8A1201-67BC-4B63-9687-0E19225243E2}"/>
              </a:ext>
            </a:extLst>
          </p:cNvPr>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prstTxWarp prst="textNoShape">
              <a:avLst/>
            </a:prstTxWarp>
          </a:bodyPr>
          <a:lstStyle>
            <a:lvl1pPr algn="r" eaLnBrk="1" hangingPunct="1">
              <a:defRPr sz="1200"/>
            </a:lvl1pPr>
          </a:lstStyle>
          <a:p>
            <a:pPr>
              <a:defRPr/>
            </a:pPr>
            <a:fld id="{36A1ABE2-8A9C-4371-A477-2D85B6949ADB}" type="slidenum">
              <a:rPr lang="en-US" altLang="en-US"/>
              <a:pPr>
                <a:defRPr/>
              </a:pPr>
              <a:t>‹#›</a:t>
            </a:fld>
            <a:endParaRPr lang="en-US" altLang="en-US"/>
          </a:p>
        </p:txBody>
      </p:sp>
    </p:spTree>
    <p:extLst>
      <p:ext uri="{BB962C8B-B14F-4D97-AF65-F5344CB8AC3E}">
        <p14:creationId xmlns:p14="http://schemas.microsoft.com/office/powerpoint/2010/main" val="33071945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198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7341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B56918-D4B3-422F-BFF9-D10393CB1268}"/>
              </a:ext>
            </a:extLst>
          </p:cNvPr>
          <p:cNvSpPr>
            <a:spLocks noGrp="1"/>
          </p:cNvSpPr>
          <p:nvPr>
            <p:ph type="dt" sz="half" idx="10"/>
          </p:nvPr>
        </p:nvSpPr>
        <p:spPr/>
        <p:txBody>
          <a:bodyPr/>
          <a:lstStyle>
            <a:lvl1pPr>
              <a:defRPr/>
            </a:lvl1pPr>
          </a:lstStyle>
          <a:p>
            <a:pPr>
              <a:defRPr/>
            </a:pPr>
            <a:fld id="{EB984284-C742-4CDE-BCD1-55F1EACCE4BD}" type="datetime1">
              <a:rPr lang="en-US"/>
              <a:pPr>
                <a:defRPr/>
              </a:pPr>
              <a:t>7/21/2026</a:t>
            </a:fld>
            <a:endParaRPr lang="en-US"/>
          </a:p>
        </p:txBody>
      </p:sp>
      <p:sp>
        <p:nvSpPr>
          <p:cNvPr id="5" name="Footer Placeholder 4">
            <a:extLst>
              <a:ext uri="{FF2B5EF4-FFF2-40B4-BE49-F238E27FC236}">
                <a16:creationId xmlns:a16="http://schemas.microsoft.com/office/drawing/2014/main" id="{A082B6A4-3E11-4AFE-97A2-755EDA1DD9B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A2D3FD1-471F-422B-AFB8-CC8FCE5DCE6C}"/>
              </a:ext>
            </a:extLst>
          </p:cNvPr>
          <p:cNvSpPr>
            <a:spLocks noGrp="1"/>
          </p:cNvSpPr>
          <p:nvPr>
            <p:ph type="sldNum" sz="quarter" idx="12"/>
          </p:nvPr>
        </p:nvSpPr>
        <p:spPr/>
        <p:txBody>
          <a:bodyPr/>
          <a:lstStyle>
            <a:lvl1pPr>
              <a:defRPr/>
            </a:lvl1pPr>
          </a:lstStyle>
          <a:p>
            <a:pPr>
              <a:defRPr/>
            </a:pPr>
            <a:fld id="{4FAC8F4A-8BCF-4389-A68F-ABDBB8A38460}" type="slidenum">
              <a:rPr lang="en-US" altLang="en-US"/>
              <a:pPr>
                <a:defRPr/>
              </a:pPr>
              <a:t>‹#›</a:t>
            </a:fld>
            <a:endParaRPr lang="en-US" altLang="en-US"/>
          </a:p>
        </p:txBody>
      </p:sp>
    </p:spTree>
    <p:extLst>
      <p:ext uri="{BB962C8B-B14F-4D97-AF65-F5344CB8AC3E}">
        <p14:creationId xmlns:p14="http://schemas.microsoft.com/office/powerpoint/2010/main" val="3918394844"/>
      </p:ext>
    </p:extLst>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DB27E7-0E5F-45FD-B9BC-82F6ACE50540}"/>
              </a:ext>
            </a:extLst>
          </p:cNvPr>
          <p:cNvSpPr>
            <a:spLocks noGrp="1"/>
          </p:cNvSpPr>
          <p:nvPr>
            <p:ph type="dt" sz="half" idx="10"/>
          </p:nvPr>
        </p:nvSpPr>
        <p:spPr/>
        <p:txBody>
          <a:bodyPr/>
          <a:lstStyle>
            <a:lvl1pPr>
              <a:defRPr/>
            </a:lvl1pPr>
          </a:lstStyle>
          <a:p>
            <a:pPr>
              <a:defRPr/>
            </a:pPr>
            <a:fld id="{78400D6F-81A6-4CA0-8B3C-34372C62B661}" type="datetime1">
              <a:rPr lang="en-US"/>
              <a:pPr>
                <a:defRPr/>
              </a:pPr>
              <a:t>7/21/2026</a:t>
            </a:fld>
            <a:endParaRPr lang="en-US"/>
          </a:p>
        </p:txBody>
      </p:sp>
      <p:sp>
        <p:nvSpPr>
          <p:cNvPr id="5" name="Footer Placeholder 4">
            <a:extLst>
              <a:ext uri="{FF2B5EF4-FFF2-40B4-BE49-F238E27FC236}">
                <a16:creationId xmlns:a16="http://schemas.microsoft.com/office/drawing/2014/main" id="{B5E0F7A6-907E-418D-ABF6-CE0D106D256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336D880-0EA6-4FCD-A723-C393235639F8}"/>
              </a:ext>
            </a:extLst>
          </p:cNvPr>
          <p:cNvSpPr>
            <a:spLocks noGrp="1"/>
          </p:cNvSpPr>
          <p:nvPr>
            <p:ph type="sldNum" sz="quarter" idx="12"/>
          </p:nvPr>
        </p:nvSpPr>
        <p:spPr/>
        <p:txBody>
          <a:bodyPr/>
          <a:lstStyle>
            <a:lvl1pPr>
              <a:defRPr/>
            </a:lvl1pPr>
          </a:lstStyle>
          <a:p>
            <a:pPr>
              <a:defRPr/>
            </a:pPr>
            <a:fld id="{815EC703-C051-410C-8BA1-62752E291E83}" type="slidenum">
              <a:rPr lang="en-US" altLang="en-US"/>
              <a:pPr>
                <a:defRPr/>
              </a:pPr>
              <a:t>‹#›</a:t>
            </a:fld>
            <a:endParaRPr lang="en-US" altLang="en-US"/>
          </a:p>
        </p:txBody>
      </p:sp>
    </p:spTree>
    <p:extLst>
      <p:ext uri="{BB962C8B-B14F-4D97-AF65-F5344CB8AC3E}">
        <p14:creationId xmlns:p14="http://schemas.microsoft.com/office/powerpoint/2010/main" val="3859887381"/>
      </p:ext>
    </p:extLst>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DDAA96-8682-4C88-9622-87E036243D1F}"/>
              </a:ext>
            </a:extLst>
          </p:cNvPr>
          <p:cNvSpPr>
            <a:spLocks noGrp="1"/>
          </p:cNvSpPr>
          <p:nvPr>
            <p:ph type="dt" sz="half" idx="10"/>
          </p:nvPr>
        </p:nvSpPr>
        <p:spPr/>
        <p:txBody>
          <a:bodyPr/>
          <a:lstStyle>
            <a:lvl1pPr>
              <a:defRPr/>
            </a:lvl1pPr>
          </a:lstStyle>
          <a:p>
            <a:pPr>
              <a:defRPr/>
            </a:pPr>
            <a:fld id="{B63234D9-D072-4920-821D-BED01FCB7247}" type="datetime1">
              <a:rPr lang="en-US"/>
              <a:pPr>
                <a:defRPr/>
              </a:pPr>
              <a:t>7/21/2026</a:t>
            </a:fld>
            <a:endParaRPr lang="en-US"/>
          </a:p>
        </p:txBody>
      </p:sp>
      <p:sp>
        <p:nvSpPr>
          <p:cNvPr id="5" name="Footer Placeholder 4">
            <a:extLst>
              <a:ext uri="{FF2B5EF4-FFF2-40B4-BE49-F238E27FC236}">
                <a16:creationId xmlns:a16="http://schemas.microsoft.com/office/drawing/2014/main" id="{F4C29450-6172-4A34-B37F-64FAD195B70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63A622E-84FA-417F-BD5A-BE81A4899820}"/>
              </a:ext>
            </a:extLst>
          </p:cNvPr>
          <p:cNvSpPr>
            <a:spLocks noGrp="1"/>
          </p:cNvSpPr>
          <p:nvPr>
            <p:ph type="sldNum" sz="quarter" idx="12"/>
          </p:nvPr>
        </p:nvSpPr>
        <p:spPr/>
        <p:txBody>
          <a:bodyPr/>
          <a:lstStyle>
            <a:lvl1pPr>
              <a:defRPr/>
            </a:lvl1pPr>
          </a:lstStyle>
          <a:p>
            <a:pPr>
              <a:defRPr/>
            </a:pPr>
            <a:fld id="{09A17B78-0E85-43B3-B804-1DD2F629C182}" type="slidenum">
              <a:rPr lang="en-US" altLang="en-US"/>
              <a:pPr>
                <a:defRPr/>
              </a:pPr>
              <a:t>‹#›</a:t>
            </a:fld>
            <a:endParaRPr lang="en-US" altLang="en-US"/>
          </a:p>
        </p:txBody>
      </p:sp>
    </p:spTree>
    <p:extLst>
      <p:ext uri="{BB962C8B-B14F-4D97-AF65-F5344CB8AC3E}">
        <p14:creationId xmlns:p14="http://schemas.microsoft.com/office/powerpoint/2010/main" val="3603603393"/>
      </p:ext>
    </p:extLst>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C0375BCC-EEE9-412B-A532-7314FE84B0C4}"/>
              </a:ext>
            </a:extLst>
          </p:cNvPr>
          <p:cNvSpPr>
            <a:spLocks noGrp="1"/>
          </p:cNvSpPr>
          <p:nvPr>
            <p:ph type="dt" sz="half" idx="10"/>
          </p:nvPr>
        </p:nvSpPr>
        <p:spPr/>
        <p:txBody>
          <a:bodyPr/>
          <a:lstStyle>
            <a:lvl1pPr>
              <a:defRPr/>
            </a:lvl1pPr>
          </a:lstStyle>
          <a:p>
            <a:pPr>
              <a:defRPr/>
            </a:pPr>
            <a:fld id="{74A9FD15-50EB-4E55-A7AC-5D569B5B3C80}" type="datetime1">
              <a:rPr lang="en-US"/>
              <a:pPr>
                <a:defRPr/>
              </a:pPr>
              <a:t>7/21/2026</a:t>
            </a:fld>
            <a:endParaRPr lang="en-US"/>
          </a:p>
        </p:txBody>
      </p:sp>
      <p:sp>
        <p:nvSpPr>
          <p:cNvPr id="6" name="Footer Placeholder 4">
            <a:extLst>
              <a:ext uri="{FF2B5EF4-FFF2-40B4-BE49-F238E27FC236}">
                <a16:creationId xmlns:a16="http://schemas.microsoft.com/office/drawing/2014/main" id="{1E5CB5DD-B599-4B4E-BFCE-CB9E35FBCEB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7CE3315-9445-4BB5-89D3-235E587ABF37}"/>
              </a:ext>
            </a:extLst>
          </p:cNvPr>
          <p:cNvSpPr>
            <a:spLocks noGrp="1"/>
          </p:cNvSpPr>
          <p:nvPr>
            <p:ph type="sldNum" sz="quarter" idx="12"/>
          </p:nvPr>
        </p:nvSpPr>
        <p:spPr/>
        <p:txBody>
          <a:bodyPr/>
          <a:lstStyle>
            <a:lvl1pPr>
              <a:defRPr/>
            </a:lvl1pPr>
          </a:lstStyle>
          <a:p>
            <a:pPr>
              <a:defRPr/>
            </a:pPr>
            <a:fld id="{010EC4D6-2A5D-45C1-86E3-8BE19A62D209}" type="slidenum">
              <a:rPr lang="en-US" altLang="en-US"/>
              <a:pPr>
                <a:defRPr/>
              </a:pPr>
              <a:t>‹#›</a:t>
            </a:fld>
            <a:endParaRPr lang="en-US" altLang="en-US"/>
          </a:p>
        </p:txBody>
      </p:sp>
    </p:spTree>
    <p:extLst>
      <p:ext uri="{BB962C8B-B14F-4D97-AF65-F5344CB8AC3E}">
        <p14:creationId xmlns:p14="http://schemas.microsoft.com/office/powerpoint/2010/main" val="2991645173"/>
      </p:ext>
    </p:extLst>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530AD5EF-C609-4119-B375-3771413B48DE}"/>
              </a:ext>
            </a:extLst>
          </p:cNvPr>
          <p:cNvSpPr>
            <a:spLocks noGrp="1"/>
          </p:cNvSpPr>
          <p:nvPr>
            <p:ph type="dt" sz="half" idx="10"/>
          </p:nvPr>
        </p:nvSpPr>
        <p:spPr/>
        <p:txBody>
          <a:bodyPr/>
          <a:lstStyle>
            <a:lvl1pPr>
              <a:defRPr/>
            </a:lvl1pPr>
          </a:lstStyle>
          <a:p>
            <a:pPr>
              <a:defRPr/>
            </a:pPr>
            <a:fld id="{7C50B61E-D197-4188-943F-30B5936FC2F9}" type="datetime1">
              <a:rPr lang="en-US"/>
              <a:pPr>
                <a:defRPr/>
              </a:pPr>
              <a:t>7/21/2026</a:t>
            </a:fld>
            <a:endParaRPr lang="en-US"/>
          </a:p>
        </p:txBody>
      </p:sp>
      <p:sp>
        <p:nvSpPr>
          <p:cNvPr id="8" name="Footer Placeholder 4">
            <a:extLst>
              <a:ext uri="{FF2B5EF4-FFF2-40B4-BE49-F238E27FC236}">
                <a16:creationId xmlns:a16="http://schemas.microsoft.com/office/drawing/2014/main" id="{88A9EBF0-B7B0-4583-92AB-A3431DE6283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83BC57B-A7E4-4277-9D46-579496497245}"/>
              </a:ext>
            </a:extLst>
          </p:cNvPr>
          <p:cNvSpPr>
            <a:spLocks noGrp="1"/>
          </p:cNvSpPr>
          <p:nvPr>
            <p:ph type="sldNum" sz="quarter" idx="12"/>
          </p:nvPr>
        </p:nvSpPr>
        <p:spPr/>
        <p:txBody>
          <a:bodyPr/>
          <a:lstStyle>
            <a:lvl1pPr>
              <a:defRPr/>
            </a:lvl1pPr>
          </a:lstStyle>
          <a:p>
            <a:pPr>
              <a:defRPr/>
            </a:pPr>
            <a:fld id="{F7F6C894-F542-45DE-85A4-2725CE924991}" type="slidenum">
              <a:rPr lang="en-US" altLang="en-US"/>
              <a:pPr>
                <a:defRPr/>
              </a:pPr>
              <a:t>‹#›</a:t>
            </a:fld>
            <a:endParaRPr lang="en-US" altLang="en-US"/>
          </a:p>
        </p:txBody>
      </p:sp>
    </p:spTree>
    <p:extLst>
      <p:ext uri="{BB962C8B-B14F-4D97-AF65-F5344CB8AC3E}">
        <p14:creationId xmlns:p14="http://schemas.microsoft.com/office/powerpoint/2010/main" val="2670619855"/>
      </p:ext>
    </p:extLst>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41D81C82-41E3-4C7D-816C-58F99A1702F2}"/>
              </a:ext>
            </a:extLst>
          </p:cNvPr>
          <p:cNvSpPr>
            <a:spLocks noGrp="1"/>
          </p:cNvSpPr>
          <p:nvPr>
            <p:ph type="dt" sz="half" idx="10"/>
          </p:nvPr>
        </p:nvSpPr>
        <p:spPr/>
        <p:txBody>
          <a:bodyPr/>
          <a:lstStyle>
            <a:lvl1pPr>
              <a:defRPr/>
            </a:lvl1pPr>
          </a:lstStyle>
          <a:p>
            <a:pPr>
              <a:defRPr/>
            </a:pPr>
            <a:fld id="{6BD41E7F-6671-4D2D-B6AD-20E102447CE3}" type="datetime1">
              <a:rPr lang="en-US"/>
              <a:pPr>
                <a:defRPr/>
              </a:pPr>
              <a:t>7/21/2026</a:t>
            </a:fld>
            <a:endParaRPr lang="en-US"/>
          </a:p>
        </p:txBody>
      </p:sp>
      <p:sp>
        <p:nvSpPr>
          <p:cNvPr id="4" name="Footer Placeholder 4">
            <a:extLst>
              <a:ext uri="{FF2B5EF4-FFF2-40B4-BE49-F238E27FC236}">
                <a16:creationId xmlns:a16="http://schemas.microsoft.com/office/drawing/2014/main" id="{21C23C57-193A-4FFE-AF84-5DDAD504531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00AA421-04F3-46DC-9A65-181848BF7FC6}"/>
              </a:ext>
            </a:extLst>
          </p:cNvPr>
          <p:cNvSpPr>
            <a:spLocks noGrp="1"/>
          </p:cNvSpPr>
          <p:nvPr>
            <p:ph type="sldNum" sz="quarter" idx="12"/>
          </p:nvPr>
        </p:nvSpPr>
        <p:spPr/>
        <p:txBody>
          <a:bodyPr/>
          <a:lstStyle>
            <a:lvl1pPr>
              <a:defRPr/>
            </a:lvl1pPr>
          </a:lstStyle>
          <a:p>
            <a:pPr>
              <a:defRPr/>
            </a:pPr>
            <a:fld id="{389318FD-4EEC-4C57-A972-0B24B85155E4}" type="slidenum">
              <a:rPr lang="en-US" altLang="en-US"/>
              <a:pPr>
                <a:defRPr/>
              </a:pPr>
              <a:t>‹#›</a:t>
            </a:fld>
            <a:endParaRPr lang="en-US" altLang="en-US"/>
          </a:p>
        </p:txBody>
      </p:sp>
    </p:spTree>
    <p:extLst>
      <p:ext uri="{BB962C8B-B14F-4D97-AF65-F5344CB8AC3E}">
        <p14:creationId xmlns:p14="http://schemas.microsoft.com/office/powerpoint/2010/main" val="1874775401"/>
      </p:ext>
    </p:extLst>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218A1C0-5E86-44FA-96CE-D0C3A0911C5A}"/>
              </a:ext>
            </a:extLst>
          </p:cNvPr>
          <p:cNvSpPr>
            <a:spLocks noGrp="1"/>
          </p:cNvSpPr>
          <p:nvPr>
            <p:ph type="dt" sz="half" idx="10"/>
          </p:nvPr>
        </p:nvSpPr>
        <p:spPr/>
        <p:txBody>
          <a:bodyPr/>
          <a:lstStyle>
            <a:lvl1pPr>
              <a:defRPr/>
            </a:lvl1pPr>
          </a:lstStyle>
          <a:p>
            <a:pPr>
              <a:defRPr/>
            </a:pPr>
            <a:fld id="{FAE11748-68B0-424D-A128-8EE4A2F1567E}" type="datetime1">
              <a:rPr lang="en-US"/>
              <a:pPr>
                <a:defRPr/>
              </a:pPr>
              <a:t>7/21/2026</a:t>
            </a:fld>
            <a:endParaRPr lang="en-US"/>
          </a:p>
        </p:txBody>
      </p:sp>
      <p:sp>
        <p:nvSpPr>
          <p:cNvPr id="3" name="Footer Placeholder 4">
            <a:extLst>
              <a:ext uri="{FF2B5EF4-FFF2-40B4-BE49-F238E27FC236}">
                <a16:creationId xmlns:a16="http://schemas.microsoft.com/office/drawing/2014/main" id="{DC30598B-A85E-40F2-B0F9-CC04D8E3F3E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20ADC7C-B221-49C5-9757-EBEBB0F9207F}"/>
              </a:ext>
            </a:extLst>
          </p:cNvPr>
          <p:cNvSpPr>
            <a:spLocks noGrp="1"/>
          </p:cNvSpPr>
          <p:nvPr>
            <p:ph type="sldNum" sz="quarter" idx="12"/>
          </p:nvPr>
        </p:nvSpPr>
        <p:spPr/>
        <p:txBody>
          <a:bodyPr/>
          <a:lstStyle>
            <a:lvl1pPr>
              <a:defRPr/>
            </a:lvl1pPr>
          </a:lstStyle>
          <a:p>
            <a:pPr>
              <a:defRPr/>
            </a:pPr>
            <a:fld id="{2F195F4C-44D2-4F45-A0AC-21646A9D27BF}" type="slidenum">
              <a:rPr lang="en-US" altLang="en-US"/>
              <a:pPr>
                <a:defRPr/>
              </a:pPr>
              <a:t>‹#›</a:t>
            </a:fld>
            <a:endParaRPr lang="en-US" altLang="en-US"/>
          </a:p>
        </p:txBody>
      </p:sp>
    </p:spTree>
    <p:extLst>
      <p:ext uri="{BB962C8B-B14F-4D97-AF65-F5344CB8AC3E}">
        <p14:creationId xmlns:p14="http://schemas.microsoft.com/office/powerpoint/2010/main" val="3579266658"/>
      </p:ext>
    </p:extLst>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79DD4CF-015F-4F62-A63C-9D088FAC4792}"/>
              </a:ext>
            </a:extLst>
          </p:cNvPr>
          <p:cNvSpPr>
            <a:spLocks noGrp="1"/>
          </p:cNvSpPr>
          <p:nvPr>
            <p:ph type="dt" sz="half" idx="10"/>
          </p:nvPr>
        </p:nvSpPr>
        <p:spPr/>
        <p:txBody>
          <a:bodyPr/>
          <a:lstStyle>
            <a:lvl1pPr>
              <a:defRPr/>
            </a:lvl1pPr>
          </a:lstStyle>
          <a:p>
            <a:pPr>
              <a:defRPr/>
            </a:pPr>
            <a:fld id="{7094E8B7-7DCF-4AE2-ACBE-26DA6EBB7347}" type="datetime1">
              <a:rPr lang="en-US"/>
              <a:pPr>
                <a:defRPr/>
              </a:pPr>
              <a:t>7/21/2026</a:t>
            </a:fld>
            <a:endParaRPr lang="en-US"/>
          </a:p>
        </p:txBody>
      </p:sp>
      <p:sp>
        <p:nvSpPr>
          <p:cNvPr id="6" name="Footer Placeholder 4">
            <a:extLst>
              <a:ext uri="{FF2B5EF4-FFF2-40B4-BE49-F238E27FC236}">
                <a16:creationId xmlns:a16="http://schemas.microsoft.com/office/drawing/2014/main" id="{9F56518C-25E4-4791-80CF-9603927DE7B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46B593C-043B-40F1-98DA-B1906E58EBEB}"/>
              </a:ext>
            </a:extLst>
          </p:cNvPr>
          <p:cNvSpPr>
            <a:spLocks noGrp="1"/>
          </p:cNvSpPr>
          <p:nvPr>
            <p:ph type="sldNum" sz="quarter" idx="12"/>
          </p:nvPr>
        </p:nvSpPr>
        <p:spPr/>
        <p:txBody>
          <a:bodyPr/>
          <a:lstStyle>
            <a:lvl1pPr>
              <a:defRPr/>
            </a:lvl1pPr>
          </a:lstStyle>
          <a:p>
            <a:pPr>
              <a:defRPr/>
            </a:pPr>
            <a:fld id="{7CD429D7-E526-4101-969E-B40B8D8E48CC}" type="slidenum">
              <a:rPr lang="en-US" altLang="en-US"/>
              <a:pPr>
                <a:defRPr/>
              </a:pPr>
              <a:t>‹#›</a:t>
            </a:fld>
            <a:endParaRPr lang="en-US" altLang="en-US"/>
          </a:p>
        </p:txBody>
      </p:sp>
    </p:spTree>
    <p:extLst>
      <p:ext uri="{BB962C8B-B14F-4D97-AF65-F5344CB8AC3E}">
        <p14:creationId xmlns:p14="http://schemas.microsoft.com/office/powerpoint/2010/main" val="3478220043"/>
      </p:ext>
    </p:extLst>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AB5A9D87-E05A-4D16-A703-1E97A8BA2C34}"/>
              </a:ext>
            </a:extLst>
          </p:cNvPr>
          <p:cNvSpPr>
            <a:spLocks noGrp="1"/>
          </p:cNvSpPr>
          <p:nvPr>
            <p:ph type="dt" sz="half" idx="10"/>
          </p:nvPr>
        </p:nvSpPr>
        <p:spPr/>
        <p:txBody>
          <a:bodyPr/>
          <a:lstStyle>
            <a:lvl1pPr>
              <a:defRPr/>
            </a:lvl1pPr>
          </a:lstStyle>
          <a:p>
            <a:pPr>
              <a:defRPr/>
            </a:pPr>
            <a:fld id="{A58AEAC7-C2C3-44AF-AB2E-36A1774D5378}" type="datetime1">
              <a:rPr lang="en-US"/>
              <a:pPr>
                <a:defRPr/>
              </a:pPr>
              <a:t>7/21/2026</a:t>
            </a:fld>
            <a:endParaRPr lang="en-US"/>
          </a:p>
        </p:txBody>
      </p:sp>
      <p:sp>
        <p:nvSpPr>
          <p:cNvPr id="6" name="Footer Placeholder 4">
            <a:extLst>
              <a:ext uri="{FF2B5EF4-FFF2-40B4-BE49-F238E27FC236}">
                <a16:creationId xmlns:a16="http://schemas.microsoft.com/office/drawing/2014/main" id="{50E92F1C-94F6-478A-96CC-20CEB3BF821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1659F05-47D4-46F4-A7AC-A02AE18D3546}"/>
              </a:ext>
            </a:extLst>
          </p:cNvPr>
          <p:cNvSpPr>
            <a:spLocks noGrp="1"/>
          </p:cNvSpPr>
          <p:nvPr>
            <p:ph type="sldNum" sz="quarter" idx="12"/>
          </p:nvPr>
        </p:nvSpPr>
        <p:spPr/>
        <p:txBody>
          <a:bodyPr/>
          <a:lstStyle>
            <a:lvl1pPr>
              <a:defRPr/>
            </a:lvl1pPr>
          </a:lstStyle>
          <a:p>
            <a:pPr>
              <a:defRPr/>
            </a:pPr>
            <a:fld id="{D66FD7F1-16F9-4E12-83AD-C4245146BA57}" type="slidenum">
              <a:rPr lang="en-US" altLang="en-US"/>
              <a:pPr>
                <a:defRPr/>
              </a:pPr>
              <a:t>‹#›</a:t>
            </a:fld>
            <a:endParaRPr lang="en-US" altLang="en-US"/>
          </a:p>
        </p:txBody>
      </p:sp>
    </p:spTree>
    <p:extLst>
      <p:ext uri="{BB962C8B-B14F-4D97-AF65-F5344CB8AC3E}">
        <p14:creationId xmlns:p14="http://schemas.microsoft.com/office/powerpoint/2010/main" val="1999370667"/>
      </p:ext>
    </p:extLst>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A0AAE25-87DE-4998-B6CE-F47978987C8B}"/>
              </a:ext>
            </a:extLst>
          </p:cNvPr>
          <p:cNvSpPr>
            <a:spLocks noGrp="1"/>
          </p:cNvSpPr>
          <p:nvPr>
            <p:ph type="dt" sz="half" idx="10"/>
          </p:nvPr>
        </p:nvSpPr>
        <p:spPr/>
        <p:txBody>
          <a:bodyPr/>
          <a:lstStyle>
            <a:lvl1pPr>
              <a:defRPr/>
            </a:lvl1pPr>
          </a:lstStyle>
          <a:p>
            <a:pPr>
              <a:defRPr/>
            </a:pPr>
            <a:fld id="{E702336F-006F-49C3-8FF0-2416E12056BA}" type="datetime1">
              <a:rPr lang="en-US"/>
              <a:pPr>
                <a:defRPr/>
              </a:pPr>
              <a:t>7/21/2026</a:t>
            </a:fld>
            <a:endParaRPr lang="en-US"/>
          </a:p>
        </p:txBody>
      </p:sp>
      <p:sp>
        <p:nvSpPr>
          <p:cNvPr id="5" name="Footer Placeholder 4">
            <a:extLst>
              <a:ext uri="{FF2B5EF4-FFF2-40B4-BE49-F238E27FC236}">
                <a16:creationId xmlns:a16="http://schemas.microsoft.com/office/drawing/2014/main" id="{B0A9861B-6D3E-4215-A3D0-377EC12DA5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EC5A02C-FFC9-401E-8BCD-D06F65B1664C}"/>
              </a:ext>
            </a:extLst>
          </p:cNvPr>
          <p:cNvSpPr>
            <a:spLocks noGrp="1"/>
          </p:cNvSpPr>
          <p:nvPr>
            <p:ph type="sldNum" sz="quarter" idx="12"/>
          </p:nvPr>
        </p:nvSpPr>
        <p:spPr/>
        <p:txBody>
          <a:bodyPr/>
          <a:lstStyle>
            <a:lvl1pPr>
              <a:defRPr/>
            </a:lvl1pPr>
          </a:lstStyle>
          <a:p>
            <a:pPr>
              <a:defRPr/>
            </a:pPr>
            <a:fld id="{F3CA2AFE-CAB8-4467-80DC-C3A4FC1E2718}" type="slidenum">
              <a:rPr lang="en-US" altLang="en-US"/>
              <a:pPr>
                <a:defRPr/>
              </a:pPr>
              <a:t>‹#›</a:t>
            </a:fld>
            <a:endParaRPr lang="en-US" altLang="en-US"/>
          </a:p>
        </p:txBody>
      </p:sp>
    </p:spTree>
    <p:extLst>
      <p:ext uri="{BB962C8B-B14F-4D97-AF65-F5344CB8AC3E}">
        <p14:creationId xmlns:p14="http://schemas.microsoft.com/office/powerpoint/2010/main" val="766143411"/>
      </p:ext>
    </p:extLst>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64B4638-3310-4031-B55D-BE295B1A7BDC}"/>
              </a:ext>
            </a:extLst>
          </p:cNvPr>
          <p:cNvSpPr>
            <a:spLocks noGrp="1"/>
          </p:cNvSpPr>
          <p:nvPr>
            <p:ph type="dt" sz="half" idx="10"/>
          </p:nvPr>
        </p:nvSpPr>
        <p:spPr/>
        <p:txBody>
          <a:bodyPr/>
          <a:lstStyle>
            <a:lvl1pPr>
              <a:defRPr/>
            </a:lvl1pPr>
          </a:lstStyle>
          <a:p>
            <a:pPr>
              <a:defRPr/>
            </a:pPr>
            <a:fld id="{8C683BFA-96BB-4329-BF2F-32F59AFA4E79}" type="datetime1">
              <a:rPr lang="en-US"/>
              <a:pPr>
                <a:defRPr/>
              </a:pPr>
              <a:t>7/21/2026</a:t>
            </a:fld>
            <a:endParaRPr lang="en-US"/>
          </a:p>
        </p:txBody>
      </p:sp>
      <p:sp>
        <p:nvSpPr>
          <p:cNvPr id="5" name="Footer Placeholder 4">
            <a:extLst>
              <a:ext uri="{FF2B5EF4-FFF2-40B4-BE49-F238E27FC236}">
                <a16:creationId xmlns:a16="http://schemas.microsoft.com/office/drawing/2014/main" id="{9BF7728E-C01A-4686-AD71-F7B61E8209D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7C71C28-1E00-4F0A-8B9D-A0E460685EFB}"/>
              </a:ext>
            </a:extLst>
          </p:cNvPr>
          <p:cNvSpPr>
            <a:spLocks noGrp="1"/>
          </p:cNvSpPr>
          <p:nvPr>
            <p:ph type="sldNum" sz="quarter" idx="12"/>
          </p:nvPr>
        </p:nvSpPr>
        <p:spPr/>
        <p:txBody>
          <a:bodyPr/>
          <a:lstStyle>
            <a:lvl1pPr>
              <a:defRPr/>
            </a:lvl1pPr>
          </a:lstStyle>
          <a:p>
            <a:pPr>
              <a:defRPr/>
            </a:pPr>
            <a:fld id="{3DDD8426-6957-4B5B-B927-2BE994D1B7C1}" type="slidenum">
              <a:rPr lang="en-US" altLang="en-US"/>
              <a:pPr>
                <a:defRPr/>
              </a:pPr>
              <a:t>‹#›</a:t>
            </a:fld>
            <a:endParaRPr lang="en-US" altLang="en-US"/>
          </a:p>
        </p:txBody>
      </p:sp>
    </p:spTree>
    <p:extLst>
      <p:ext uri="{BB962C8B-B14F-4D97-AF65-F5344CB8AC3E}">
        <p14:creationId xmlns:p14="http://schemas.microsoft.com/office/powerpoint/2010/main" val="289399607"/>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9A3E1B4-65C6-415A-9681-D05B402B0E8D}"/>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C566853-DAEB-4CB7-818F-723C37230FEE}"/>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04BD739-9829-4F69-BC53-75013DDD1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46687D5-4D00-474F-82B8-FCFBD98170F5}" type="datetime1">
              <a:rPr lang="en-US"/>
              <a:pPr>
                <a:defRPr/>
              </a:pPr>
              <a:t>7/21/2026</a:t>
            </a:fld>
            <a:endParaRPr lang="en-US"/>
          </a:p>
        </p:txBody>
      </p:sp>
      <p:sp>
        <p:nvSpPr>
          <p:cNvPr id="5" name="Footer Placeholder 4">
            <a:extLst>
              <a:ext uri="{FF2B5EF4-FFF2-40B4-BE49-F238E27FC236}">
                <a16:creationId xmlns:a16="http://schemas.microsoft.com/office/drawing/2014/main" id="{505F0A4C-9308-45AA-A1AA-7B038DC01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142AE0DB-89DF-4A35-9269-9E85DEA2E368}"/>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BF7CE3-29D9-4203-A481-45960E76618F}" type="slidenum">
              <a:rPr lang="en-US" altLang="en-US"/>
              <a:pPr>
                <a:defRPr/>
              </a:pPr>
              <a:t>‹#›</a:t>
            </a:fld>
            <a:endParaRPr lang="en-US" altLang="en-US"/>
          </a:p>
        </p:txBody>
      </p:sp>
      <p:pic>
        <p:nvPicPr>
          <p:cNvPr id="1031" name="Picture 7">
            <a:extLst>
              <a:ext uri="{FF2B5EF4-FFF2-40B4-BE49-F238E27FC236}">
                <a16:creationId xmlns:a16="http://schemas.microsoft.com/office/drawing/2014/main" id="{102663E2-6C69-49E4-9FEB-A0ED3DD955FD}"/>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Lst>
  <p:transition spd="slow">
    <p:blinds dir="vert"/>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a:t>
            </a:r>
            <a:r>
              <a:rPr lang="en-GB" sz="2000" b="1" i="0" u="none" strike="noStrike" cap="none" dirty="0">
                <a:solidFill>
                  <a:schemeClr val="accent2"/>
                </a:solidFill>
                <a:latin typeface="Cambria" panose="02040503050406030204" pitchFamily="18" charset="0"/>
                <a:ea typeface="Cambria" panose="02040503050406030204" pitchFamily="18" charset="0"/>
                <a:cs typeface="Verdana"/>
                <a:sym typeface="Verdana"/>
              </a:rPr>
              <a:t>Supervision</a:t>
            </a: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Rajesh Wagle , Manager BEL</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91065" y="3985437"/>
            <a:ext cx="12009870"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a:latin typeface="Cambria" panose="02040503050406030204" pitchFamily="18" charset="0"/>
                <a:ea typeface="Cambria" panose="02040503050406030204" pitchFamily="18" charset="0"/>
                <a:cs typeface="Verdana"/>
                <a:sym typeface="Verdana"/>
              </a:rPr>
              <a:t>Computer Science and Technology (AIML)</a:t>
            </a:r>
            <a:endParaRPr lang="en-US" sz="2000" b="1" i="0" u="none" strike="noStrike" cap="none" dirty="0">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latin typeface="Cambria" panose="02040503050406030204" pitchFamily="18" charset="0"/>
                <a:ea typeface="Cambria" panose="02040503050406030204" pitchFamily="18" charset="0"/>
                <a:cs typeface="Verdana"/>
                <a:sym typeface="Verdana"/>
              </a:rPr>
              <a:t>Dr. Pallavi R</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i="0" u="none" strike="noStrike" cap="none" dirty="0">
                <a:latin typeface="Cambria" panose="02040503050406030204" pitchFamily="18" charset="0"/>
                <a:ea typeface="Cambria" panose="02040503050406030204" pitchFamily="18" charset="0"/>
                <a:cs typeface="Verdana"/>
                <a:sym typeface="Verdana"/>
              </a:rPr>
              <a:t>Mr</a:t>
            </a:r>
            <a:r>
              <a:rPr lang="en-US" sz="2000" b="1" dirty="0">
                <a:latin typeface="Cambria" panose="02040503050406030204" pitchFamily="18" charset="0"/>
                <a:ea typeface="Cambria" panose="02040503050406030204" pitchFamily="18" charset="0"/>
                <a:cs typeface="Verdana"/>
                <a:sym typeface="Verdana"/>
              </a:rPr>
              <a:t>. Saptarsi Sanyal</a:t>
            </a:r>
            <a:endParaRPr lang="en-US" sz="2000" b="1" i="0" u="none" strike="noStrike" cap="none" dirty="0">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Coordinators: </a:t>
            </a:r>
            <a:r>
              <a:rPr lang="en-US" sz="2000" b="1" dirty="0">
                <a:latin typeface="Cambria" panose="02040503050406030204" pitchFamily="18" charset="0"/>
                <a:ea typeface="Cambria" panose="02040503050406030204" pitchFamily="18" charset="0"/>
                <a:cs typeface="Verdana"/>
                <a:sym typeface="Verdana"/>
              </a:rPr>
              <a:t>Dr. Bhuvaneshwari Patil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CSE7000 - INTERNSHIP</a:t>
            </a:r>
            <a:br>
              <a:rPr lang="en-IN" dirty="0">
                <a:solidFill>
                  <a:srgbClr val="FF0000"/>
                </a:solidFill>
                <a:latin typeface="Times New Roman" panose="02020603050405020304" pitchFamily="18" charset="0"/>
                <a:cs typeface="Times New Roman" panose="02020603050405020304" pitchFamily="18" charset="0"/>
              </a:rPr>
            </a:br>
            <a:r>
              <a:rPr lang="en-IN" dirty="0">
                <a:solidFill>
                  <a:srgbClr val="FF0000"/>
                </a:solidFill>
                <a:latin typeface="Times New Roman" panose="02020603050405020304" pitchFamily="18" charset="0"/>
                <a:cs typeface="Times New Roman" panose="02020603050405020304" pitchFamily="18" charset="0"/>
              </a:rPr>
              <a:t>A Presentation on</a:t>
            </a: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IN" sz="2400" dirty="0"/>
              <a:t>Smart Classroom </a:t>
            </a:r>
            <a:r>
              <a:rPr lang="en-IN" sz="2400" dirty="0" err="1"/>
              <a:t>Behavior</a:t>
            </a:r>
            <a:r>
              <a:rPr lang="en-IN" sz="2400" dirty="0"/>
              <a:t> Detection using YOLOv8</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621222256"/>
              </p:ext>
            </p:extLst>
          </p:nvPr>
        </p:nvGraphicFramePr>
        <p:xfrm>
          <a:off x="601909" y="1911875"/>
          <a:ext cx="4884491"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513221">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l"/>
                      <a:r>
                        <a:rPr lang="en-IN" dirty="0"/>
                        <a:t>B S Vanisha Babu</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l"/>
                      <a:r>
                        <a:rPr lang="en-US" dirty="0">
                          <a:latin typeface="Cambria" panose="02040503050406030204" pitchFamily="18" charset="0"/>
                          <a:ea typeface="Cambria" panose="02040503050406030204" pitchFamily="18" charset="0"/>
                          <a:cs typeface="Times New Roman" panose="02020603050405020304" pitchFamily="18" charset="0"/>
                        </a:rPr>
                        <a:t>20241CSG0007</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l"/>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90239800"/>
      </p:ext>
    </p:extLst>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78759" y="762138"/>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50000"/>
              </a:lnSpc>
              <a:spcBef>
                <a:spcPts val="0"/>
              </a:spcBef>
              <a:buFont typeface="Wingdings" panose="05000000000000000000" pitchFamily="2" charset="2"/>
              <a:buChar char="Ø"/>
            </a:pPr>
            <a:r>
              <a:rPr lang="en-US"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50000"/>
              </a:lnSpc>
              <a:spcBef>
                <a:spcPts val="0"/>
              </a:spcBef>
              <a:buFont typeface="Wingdings" panose="05000000000000000000" pitchFamily="2" charset="2"/>
              <a:buChar char="Ø"/>
            </a:pPr>
            <a:r>
              <a:rPr lang="en-IN"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dirty="0">
              <a:latin typeface="Cambria" panose="02040503050406030204" pitchFamily="18" charset="0"/>
              <a:ea typeface="Cambria" panose="02040503050406030204" pitchFamily="18" charset="0"/>
            </a:endParaRPr>
          </a:p>
          <a:p>
            <a:pPr marL="495300" indent="-342900" algn="just">
              <a:lnSpc>
                <a:spcPct val="150000"/>
              </a:lnSpc>
              <a:spcBef>
                <a:spcPts val="0"/>
              </a:spcBef>
              <a:buFont typeface="Wingdings" panose="05000000000000000000" pitchFamily="2" charset="2"/>
              <a:buChar char="Ø"/>
            </a:pPr>
            <a:r>
              <a:rPr lang="en-IN"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50000"/>
              </a:lnSpc>
              <a:spcBef>
                <a:spcPts val="0"/>
              </a:spcBef>
              <a:buFont typeface="Wingdings" panose="05000000000000000000" pitchFamily="2" charset="2"/>
              <a:buChar char="Ø"/>
            </a:pPr>
            <a:r>
              <a:rPr lang="en-IN" b="1" dirty="0">
                <a:solidFill>
                  <a:schemeClr val="accent1">
                    <a:lumMod val="75000"/>
                  </a:schemeClr>
                </a:solidFill>
                <a:latin typeface="Times New Roman" panose="02020603050405020304" pitchFamily="18" charset="0"/>
                <a:cs typeface="Times New Roman" panose="02020603050405020304" pitchFamily="18" charset="0"/>
              </a:rPr>
              <a:t>Methodology Used </a:t>
            </a:r>
          </a:p>
          <a:p>
            <a:pPr marL="495300" indent="-342900" algn="just">
              <a:lnSpc>
                <a:spcPct val="150000"/>
              </a:lnSpc>
              <a:spcBef>
                <a:spcPts val="0"/>
              </a:spcBef>
              <a:buFont typeface="Wingdings" panose="05000000000000000000" pitchFamily="2" charset="2"/>
              <a:buChar char="Ø"/>
            </a:pPr>
            <a:r>
              <a:rPr lang="en-IN" b="1"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Results </a:t>
            </a:r>
            <a:endParaRPr lang="en-IN" dirty="0">
              <a:latin typeface="Cambria" panose="02040503050406030204" pitchFamily="18" charset="0"/>
              <a:ea typeface="Cambria" panose="02040503050406030204" pitchFamily="18" charset="0"/>
            </a:endParaRPr>
          </a:p>
          <a:p>
            <a:pPr marL="495300" indent="-342900" algn="just">
              <a:lnSpc>
                <a:spcPct val="150000"/>
              </a:lnSpc>
              <a:spcBef>
                <a:spcPts val="0"/>
              </a:spcBef>
              <a:buFont typeface="Wingdings" panose="05000000000000000000" pitchFamily="2" charset="2"/>
              <a:buChar char="Ø"/>
            </a:pPr>
            <a:r>
              <a:rPr lang="en-IN" b="1" dirty="0">
                <a:solidFill>
                  <a:schemeClr val="accent1">
                    <a:lumMod val="75000"/>
                  </a:schemeClr>
                </a:solidFill>
                <a:latin typeface="Cambria" panose="02040503050406030204" pitchFamily="18" charset="0"/>
                <a:ea typeface="Cambria" panose="02040503050406030204" pitchFamily="18" charset="0"/>
                <a:cs typeface="Times New Roman" panose="02020603050405020304" pitchFamily="18" charset="0"/>
              </a:rPr>
              <a:t>Conclusion</a:t>
            </a:r>
            <a:endParaRPr lang="en-IN" b="1"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4648573"/>
      </p:ext>
    </p:extLst>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8788" y="136525"/>
            <a:ext cx="10515600" cy="679904"/>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830427"/>
            <a:ext cx="10515600" cy="4193176"/>
          </a:xfrm>
        </p:spPr>
        <p:txBody>
          <a:bodyPr/>
          <a:lstStyle/>
          <a:p>
            <a:r>
              <a:rPr lang="en-IN" b="1" dirty="0">
                <a:latin typeface="Cambria" panose="02040503050406030204" pitchFamily="18" charset="0"/>
                <a:ea typeface="Cambria" panose="02040503050406030204" pitchFamily="18" charset="0"/>
              </a:rPr>
              <a:t>Bharat Electronics Limited (BEL)</a:t>
            </a:r>
            <a:r>
              <a:rPr lang="en-IN" dirty="0">
                <a:latin typeface="Cambria" panose="02040503050406030204" pitchFamily="18" charset="0"/>
                <a:ea typeface="Cambria" panose="02040503050406030204" pitchFamily="18" charset="0"/>
              </a:rPr>
              <a:t> is a leading </a:t>
            </a:r>
            <a:r>
              <a:rPr lang="en-IN" b="1" dirty="0" err="1">
                <a:latin typeface="Cambria" panose="02040503050406030204" pitchFamily="18" charset="0"/>
                <a:ea typeface="Cambria" panose="02040503050406030204" pitchFamily="18" charset="0"/>
              </a:rPr>
              <a:t>Navratna</a:t>
            </a:r>
            <a:r>
              <a:rPr lang="en-IN" b="1" dirty="0">
                <a:latin typeface="Cambria" panose="02040503050406030204" pitchFamily="18" charset="0"/>
                <a:ea typeface="Cambria" panose="02040503050406030204" pitchFamily="18" charset="0"/>
              </a:rPr>
              <a:t> Public Sector Undertaking (PSU)</a:t>
            </a:r>
            <a:r>
              <a:rPr lang="en-IN" dirty="0">
                <a:latin typeface="Cambria" panose="02040503050406030204" pitchFamily="18" charset="0"/>
                <a:ea typeface="Cambria" panose="02040503050406030204" pitchFamily="18" charset="0"/>
              </a:rPr>
              <a:t> under the </a:t>
            </a:r>
            <a:r>
              <a:rPr lang="en-IN" b="1" dirty="0">
                <a:latin typeface="Cambria" panose="02040503050406030204" pitchFamily="18" charset="0"/>
                <a:ea typeface="Cambria" panose="02040503050406030204" pitchFamily="18" charset="0"/>
              </a:rPr>
              <a:t>Ministry of Defence, Government of India</a:t>
            </a:r>
            <a:r>
              <a:rPr lang="en-IN" dirty="0">
                <a:latin typeface="Cambria" panose="02040503050406030204" pitchFamily="18" charset="0"/>
                <a:ea typeface="Cambria" panose="02040503050406030204" pitchFamily="18" charset="0"/>
              </a:rPr>
              <a:t>. Established in </a:t>
            </a:r>
            <a:r>
              <a:rPr lang="en-IN" b="1" dirty="0">
                <a:latin typeface="Cambria" panose="02040503050406030204" pitchFamily="18" charset="0"/>
                <a:ea typeface="Cambria" panose="02040503050406030204" pitchFamily="18" charset="0"/>
              </a:rPr>
              <a:t>1954</a:t>
            </a:r>
            <a:r>
              <a:rPr lang="en-IN" dirty="0">
                <a:latin typeface="Cambria" panose="02040503050406030204" pitchFamily="18" charset="0"/>
                <a:ea typeface="Cambria" panose="02040503050406030204" pitchFamily="18" charset="0"/>
              </a:rPr>
              <a:t>, BEL plays a significant role in strengthening India's defence capabilities by designing, developing, and manufacturing advanced electronic systems.</a:t>
            </a:r>
          </a:p>
          <a:p>
            <a:r>
              <a:rPr lang="en-IN" dirty="0">
                <a:latin typeface="Cambria" panose="02040503050406030204" pitchFamily="18" charset="0"/>
                <a:ea typeface="Cambria" panose="02040503050406030204" pitchFamily="18" charset="0"/>
              </a:rPr>
              <a:t>The company has </a:t>
            </a:r>
            <a:r>
              <a:rPr lang="en-IN" b="1" dirty="0">
                <a:latin typeface="Cambria" panose="02040503050406030204" pitchFamily="18" charset="0"/>
                <a:ea typeface="Cambria" panose="02040503050406030204" pitchFamily="18" charset="0"/>
              </a:rPr>
              <a:t>nine manufacturing units</a:t>
            </a:r>
            <a:r>
              <a:rPr lang="en-IN" dirty="0">
                <a:latin typeface="Cambria" panose="02040503050406030204" pitchFamily="18" charset="0"/>
                <a:ea typeface="Cambria" panose="02040503050406030204" pitchFamily="18" charset="0"/>
              </a:rPr>
              <a:t> across India and several regional offices, providing high-quality electronic products and solutions for defence, aerospace, homeland security, and civilian sectors. BEL is also actively involved in research and development, focusing on emerging technologies such as Artificial Intelligence, Cyber Security, and Communication Systems.</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816428933"/>
      </p:ext>
    </p:extLst>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D157-E66A-9478-0E8C-67E944D643EB}"/>
              </a:ext>
            </a:extLst>
          </p:cNvPr>
          <p:cNvSpPr>
            <a:spLocks noGrp="1"/>
          </p:cNvSpPr>
          <p:nvPr>
            <p:ph type="title"/>
          </p:nvPr>
        </p:nvSpPr>
        <p:spPr>
          <a:xfrm>
            <a:off x="1576873" y="-227030"/>
            <a:ext cx="10515600" cy="1325563"/>
          </a:xfrm>
        </p:spPr>
        <p:txBody>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About Company or Organization</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743A5DB-C93A-23C4-0D24-3F7774BD27F2}"/>
              </a:ext>
            </a:extLst>
          </p:cNvPr>
          <p:cNvSpPr>
            <a:spLocks noGrp="1"/>
          </p:cNvSpPr>
          <p:nvPr>
            <p:ph type="body" idx="1"/>
          </p:nvPr>
        </p:nvSpPr>
        <p:spPr>
          <a:xfrm>
            <a:off x="1054391" y="1041980"/>
            <a:ext cx="5157787" cy="823912"/>
          </a:xfrm>
        </p:spPr>
        <p:txBody>
          <a:bodyPr/>
          <a:lstStyle/>
          <a:p>
            <a:r>
              <a:rPr lang="en-IN" sz="4400" dirty="0">
                <a:solidFill>
                  <a:schemeClr val="accent1">
                    <a:lumMod val="75000"/>
                  </a:schemeClr>
                </a:solidFill>
              </a:rPr>
              <a:t>BEL LOGO</a:t>
            </a:r>
          </a:p>
        </p:txBody>
      </p:sp>
      <p:pic>
        <p:nvPicPr>
          <p:cNvPr id="9" name="Content Placeholder 8">
            <a:extLst>
              <a:ext uri="{FF2B5EF4-FFF2-40B4-BE49-F238E27FC236}">
                <a16:creationId xmlns:a16="http://schemas.microsoft.com/office/drawing/2014/main" id="{19D872BE-1B71-6692-E017-3169DE53131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14142" y="1709738"/>
            <a:ext cx="5157787" cy="3438524"/>
          </a:xfrm>
        </p:spPr>
      </p:pic>
      <p:sp>
        <p:nvSpPr>
          <p:cNvPr id="5" name="Text Placeholder 4">
            <a:extLst>
              <a:ext uri="{FF2B5EF4-FFF2-40B4-BE49-F238E27FC236}">
                <a16:creationId xmlns:a16="http://schemas.microsoft.com/office/drawing/2014/main" id="{598DBE63-861E-CB1C-3839-01ED00B91637}"/>
              </a:ext>
            </a:extLst>
          </p:cNvPr>
          <p:cNvSpPr>
            <a:spLocks noGrp="1"/>
          </p:cNvSpPr>
          <p:nvPr>
            <p:ph type="body" sz="quarter" idx="3"/>
          </p:nvPr>
        </p:nvSpPr>
        <p:spPr>
          <a:xfrm>
            <a:off x="6501428" y="1041980"/>
            <a:ext cx="5183188" cy="823912"/>
          </a:xfrm>
        </p:spPr>
        <p:txBody>
          <a:bodyPr/>
          <a:lstStyle/>
          <a:p>
            <a:r>
              <a:rPr lang="en-IN" sz="4400" dirty="0">
                <a:solidFill>
                  <a:schemeClr val="accent1">
                    <a:lumMod val="75000"/>
                  </a:schemeClr>
                </a:solidFill>
              </a:rPr>
              <a:t>BEL CAMPUS</a:t>
            </a:r>
          </a:p>
        </p:txBody>
      </p:sp>
      <p:pic>
        <p:nvPicPr>
          <p:cNvPr id="11" name="Content Placeholder 10">
            <a:extLst>
              <a:ext uri="{FF2B5EF4-FFF2-40B4-BE49-F238E27FC236}">
                <a16:creationId xmlns:a16="http://schemas.microsoft.com/office/drawing/2014/main" id="{8A49153E-77B4-BD90-3493-0302831B7D9E}"/>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501428" y="2160922"/>
            <a:ext cx="5183187" cy="2880987"/>
          </a:xfrm>
        </p:spPr>
      </p:pic>
      <p:sp>
        <p:nvSpPr>
          <p:cNvPr id="7" name="Slide Number Placeholder 6">
            <a:extLst>
              <a:ext uri="{FF2B5EF4-FFF2-40B4-BE49-F238E27FC236}">
                <a16:creationId xmlns:a16="http://schemas.microsoft.com/office/drawing/2014/main" id="{A93FD6DE-B01E-DFE7-E469-D405ADEC5752}"/>
              </a:ext>
            </a:extLst>
          </p:cNvPr>
          <p:cNvSpPr>
            <a:spLocks noGrp="1"/>
          </p:cNvSpPr>
          <p:nvPr>
            <p:ph type="sldNum" sz="quarter" idx="12"/>
          </p:nvPr>
        </p:nvSpPr>
        <p:spPr/>
        <p:txBody>
          <a:bodyPr/>
          <a:lstStyle/>
          <a:p>
            <a:pPr>
              <a:defRPr/>
            </a:pPr>
            <a:fld id="{F7F6C894-F542-45DE-85A4-2725CE924991}" type="slidenum">
              <a:rPr lang="en-US" altLang="en-US" smtClean="0"/>
              <a:pPr>
                <a:defRPr/>
              </a:pPr>
              <a:t>4</a:t>
            </a:fld>
            <a:endParaRPr lang="en-US" altLang="en-US"/>
          </a:p>
        </p:txBody>
      </p:sp>
    </p:spTree>
    <p:extLst>
      <p:ext uri="{BB962C8B-B14F-4D97-AF65-F5344CB8AC3E}">
        <p14:creationId xmlns:p14="http://schemas.microsoft.com/office/powerpoint/2010/main" val="3274191447"/>
      </p:ext>
    </p:extLst>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737"/>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581908"/>
            <a:ext cx="10759751" cy="4316663"/>
          </a:xfrm>
        </p:spPr>
        <p:txBody>
          <a:bodyPr/>
          <a:lstStyle/>
          <a:p>
            <a:r>
              <a:rPr lang="en-IN" sz="1400" b="1" dirty="0">
                <a:latin typeface="Cambria" panose="02040503050406030204" pitchFamily="18" charset="0"/>
                <a:ea typeface="Cambria" panose="02040503050406030204" pitchFamily="18" charset="0"/>
              </a:rPr>
              <a:t>Computer Vision using YOLOv8</a:t>
            </a:r>
          </a:p>
          <a:p>
            <a:r>
              <a:rPr lang="en-IN" sz="1400" b="1" dirty="0">
                <a:latin typeface="Cambria" panose="02040503050406030204" pitchFamily="18" charset="0"/>
                <a:ea typeface="Cambria" panose="02040503050406030204" pitchFamily="18" charset="0"/>
              </a:rPr>
              <a:t>What is Computer Vision?</a:t>
            </a:r>
          </a:p>
          <a:p>
            <a:r>
              <a:rPr lang="en-IN" sz="1400" dirty="0">
                <a:latin typeface="Cambria" panose="02040503050406030204" pitchFamily="18" charset="0"/>
                <a:ea typeface="Cambria" panose="02040503050406030204" pitchFamily="18" charset="0"/>
              </a:rPr>
              <a:t>Computer Vision is a branch of Artificial Intelligence that enables computers to understand, </a:t>
            </a:r>
            <a:r>
              <a:rPr lang="en-IN" sz="1400" dirty="0" err="1">
                <a:latin typeface="Cambria" panose="02040503050406030204" pitchFamily="18" charset="0"/>
                <a:ea typeface="Cambria" panose="02040503050406030204" pitchFamily="18" charset="0"/>
              </a:rPr>
              <a:t>analyze</a:t>
            </a:r>
            <a:r>
              <a:rPr lang="en-IN" sz="1400" dirty="0">
                <a:latin typeface="Cambria" panose="02040503050406030204" pitchFamily="18" charset="0"/>
                <a:ea typeface="Cambria" panose="02040503050406030204" pitchFamily="18" charset="0"/>
              </a:rPr>
              <a:t>, and interpret images and videos automatically.</a:t>
            </a:r>
          </a:p>
          <a:p>
            <a:r>
              <a:rPr lang="en-IN" sz="1400" b="1" dirty="0">
                <a:latin typeface="Cambria" panose="02040503050406030204" pitchFamily="18" charset="0"/>
                <a:ea typeface="Cambria" panose="02040503050406030204" pitchFamily="18" charset="0"/>
              </a:rPr>
              <a:t>Key Features</a:t>
            </a:r>
          </a:p>
          <a:p>
            <a:r>
              <a:rPr lang="en-IN" sz="1400" dirty="0">
                <a:latin typeface="Cambria" panose="02040503050406030204" pitchFamily="18" charset="0"/>
                <a:ea typeface="Cambria" panose="02040503050406030204" pitchFamily="18" charset="0"/>
              </a:rPr>
              <a:t>Real-time object detection and recognition. </a:t>
            </a:r>
          </a:p>
          <a:p>
            <a:r>
              <a:rPr lang="en-IN" sz="1400" dirty="0">
                <a:latin typeface="Cambria" panose="02040503050406030204" pitchFamily="18" charset="0"/>
                <a:ea typeface="Cambria" panose="02040503050406030204" pitchFamily="18" charset="0"/>
              </a:rPr>
              <a:t>Accurate identification of multiple objects simultaneously. </a:t>
            </a:r>
          </a:p>
          <a:p>
            <a:r>
              <a:rPr lang="en-IN" sz="1400" dirty="0">
                <a:latin typeface="Cambria" panose="02040503050406030204" pitchFamily="18" charset="0"/>
                <a:ea typeface="Cambria" panose="02040503050406030204" pitchFamily="18" charset="0"/>
              </a:rPr>
              <a:t>Deep learning-based image analysis. </a:t>
            </a:r>
          </a:p>
          <a:p>
            <a:r>
              <a:rPr lang="en-IN" sz="1400" dirty="0">
                <a:latin typeface="Cambria" panose="02040503050406030204" pitchFamily="18" charset="0"/>
                <a:ea typeface="Cambria" panose="02040503050406030204" pitchFamily="18" charset="0"/>
              </a:rPr>
              <a:t>Supports image and video processing. </a:t>
            </a:r>
          </a:p>
          <a:p>
            <a:r>
              <a:rPr lang="en-IN" sz="1400" dirty="0">
                <a:latin typeface="Cambria" panose="02040503050406030204" pitchFamily="18" charset="0"/>
                <a:ea typeface="Cambria" panose="02040503050406030204" pitchFamily="18" charset="0"/>
              </a:rPr>
              <a:t>High speed and efficient performance using YOLOv8. </a:t>
            </a:r>
          </a:p>
          <a:p>
            <a:r>
              <a:rPr lang="en-IN" sz="1400" b="1" dirty="0">
                <a:latin typeface="Cambria" panose="02040503050406030204" pitchFamily="18" charset="0"/>
                <a:ea typeface="Cambria" panose="02040503050406030204" pitchFamily="18" charset="0"/>
              </a:rPr>
              <a:t>Importance</a:t>
            </a:r>
          </a:p>
          <a:p>
            <a:r>
              <a:rPr lang="en-IN" sz="1400" dirty="0">
                <a:latin typeface="Cambria" panose="02040503050406030204" pitchFamily="18" charset="0"/>
                <a:ea typeface="Cambria" panose="02040503050406030204" pitchFamily="18" charset="0"/>
              </a:rPr>
              <a:t>Reduces manual monitoring. </a:t>
            </a:r>
          </a:p>
          <a:p>
            <a:r>
              <a:rPr lang="en-IN" sz="1400" dirty="0">
                <a:latin typeface="Cambria" panose="02040503050406030204" pitchFamily="18" charset="0"/>
                <a:ea typeface="Cambria" panose="02040503050406030204" pitchFamily="18" charset="0"/>
              </a:rPr>
              <a:t>Improves automation and accuracy. </a:t>
            </a:r>
          </a:p>
          <a:p>
            <a:r>
              <a:rPr lang="en-IN" sz="1400" dirty="0">
                <a:latin typeface="Cambria" panose="02040503050406030204" pitchFamily="18" charset="0"/>
                <a:ea typeface="Cambria" panose="02040503050406030204" pitchFamily="18" charset="0"/>
              </a:rPr>
              <a:t>Enables smart surveillance and classroom monitoring. </a:t>
            </a:r>
          </a:p>
          <a:p>
            <a:r>
              <a:rPr lang="en-IN" sz="1400" dirty="0">
                <a:latin typeface="Cambria" panose="02040503050406030204" pitchFamily="18" charset="0"/>
                <a:ea typeface="Cambria" panose="02040503050406030204" pitchFamily="18" charset="0"/>
              </a:rPr>
              <a:t>Widely used in healthcare, autonomous vehicles, security, and education</a:t>
            </a:r>
          </a:p>
          <a:p>
            <a:pPr algn="just"/>
            <a:endParaRPr lang="en-IN"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103887700"/>
      </p:ext>
    </p:extLst>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839134"/>
            <a:ext cx="10515600" cy="4367348"/>
          </a:xfrm>
        </p:spPr>
        <p:txBody>
          <a:bodyPr/>
          <a:lstStyle/>
          <a:p>
            <a:pPr algn="just"/>
            <a:r>
              <a:rPr lang="en-IN" dirty="0"/>
              <a:t>Develop a Smart Classroom </a:t>
            </a:r>
            <a:r>
              <a:rPr lang="en-IN" b="1" dirty="0" err="1"/>
              <a:t>Behavior</a:t>
            </a:r>
            <a:r>
              <a:rPr lang="en-IN" b="1" dirty="0"/>
              <a:t> </a:t>
            </a:r>
            <a:r>
              <a:rPr lang="en-IN" dirty="0"/>
              <a:t>Detection system using the YOLOv8 object detection model.</a:t>
            </a:r>
          </a:p>
          <a:p>
            <a:pPr algn="just"/>
            <a:r>
              <a:rPr lang="en-IN" dirty="0"/>
              <a:t>Detect and classify </a:t>
            </a:r>
            <a:r>
              <a:rPr lang="en-IN" b="1" dirty="0"/>
              <a:t>eight different </a:t>
            </a:r>
            <a:r>
              <a:rPr lang="en-IN" dirty="0"/>
              <a:t>student classroom behaviours from images and videos.</a:t>
            </a:r>
          </a:p>
          <a:p>
            <a:pPr algn="just"/>
            <a:r>
              <a:rPr lang="en-IN" dirty="0"/>
              <a:t>Train and evaluate the model using a </a:t>
            </a:r>
            <a:r>
              <a:rPr lang="en-IN" b="1" dirty="0" err="1"/>
              <a:t>labeled</a:t>
            </a:r>
            <a:r>
              <a:rPr lang="en-IN" dirty="0"/>
              <a:t> classroom behaviour dataset.</a:t>
            </a:r>
          </a:p>
          <a:p>
            <a:pPr algn="just"/>
            <a:r>
              <a:rPr lang="en-IN" b="1" dirty="0" err="1"/>
              <a:t>Analyze</a:t>
            </a:r>
            <a:r>
              <a:rPr lang="en-IN" dirty="0"/>
              <a:t> the model's performance using standard evaluation metrics.</a:t>
            </a:r>
          </a:p>
          <a:p>
            <a:pPr algn="just"/>
            <a:r>
              <a:rPr lang="en-IN" dirty="0"/>
              <a:t>Gain practical experience in </a:t>
            </a:r>
            <a:r>
              <a:rPr lang="en-IN" b="1" dirty="0"/>
              <a:t>Computer Vision</a:t>
            </a:r>
            <a:r>
              <a:rPr lang="en-IN" dirty="0"/>
              <a:t>, Deep Learning, and AI-based application development.</a:t>
            </a:r>
          </a:p>
          <a:p>
            <a:pPr algn="just"/>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1727376468"/>
      </p:ext>
    </p:extLst>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64FF8-D49E-5212-D6E9-F2A27E1B35B4}"/>
              </a:ext>
            </a:extLst>
          </p:cNvPr>
          <p:cNvSpPr>
            <a:spLocks noGrp="1"/>
          </p:cNvSpPr>
          <p:nvPr>
            <p:ph type="title"/>
          </p:nvPr>
        </p:nvSpPr>
        <p:spPr>
          <a:xfrm>
            <a:off x="838200" y="-157390"/>
            <a:ext cx="10515600" cy="1325563"/>
          </a:xfrm>
        </p:spPr>
        <p:txBody>
          <a:bodyPr/>
          <a:lstStyle/>
          <a:p>
            <a:r>
              <a:rPr lang="en-IN"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Methodology Used</a:t>
            </a:r>
          </a:p>
        </p:txBody>
      </p:sp>
      <p:sp>
        <p:nvSpPr>
          <p:cNvPr id="3" name="Content Placeholder 2">
            <a:extLst>
              <a:ext uri="{FF2B5EF4-FFF2-40B4-BE49-F238E27FC236}">
                <a16:creationId xmlns:a16="http://schemas.microsoft.com/office/drawing/2014/main" id="{4FB1AA30-91D1-84A5-32C7-6CA95E885A2E}"/>
              </a:ext>
            </a:extLst>
          </p:cNvPr>
          <p:cNvSpPr>
            <a:spLocks noGrp="1"/>
          </p:cNvSpPr>
          <p:nvPr>
            <p:ph sz="half" idx="1"/>
          </p:nvPr>
        </p:nvSpPr>
        <p:spPr>
          <a:xfrm>
            <a:off x="679579" y="1072454"/>
            <a:ext cx="5181600" cy="4351338"/>
          </a:xfrm>
        </p:spPr>
        <p:txBody>
          <a:bodyPr/>
          <a:lstStyle/>
          <a:p>
            <a:r>
              <a:rPr lang="en-IN" sz="2000" dirty="0"/>
              <a:t>Collected the </a:t>
            </a:r>
            <a:r>
              <a:rPr lang="en-IN" sz="2000" b="1" dirty="0"/>
              <a:t>Smart Classroom </a:t>
            </a:r>
            <a:r>
              <a:rPr lang="en-IN" sz="2000" b="1" dirty="0" err="1"/>
              <a:t>Behavior</a:t>
            </a:r>
            <a:r>
              <a:rPr lang="en-IN" sz="2000" b="1" dirty="0"/>
              <a:t> Dataset</a:t>
            </a:r>
            <a:r>
              <a:rPr lang="en-IN" sz="2000" dirty="0"/>
              <a:t> from Kaggle.</a:t>
            </a:r>
          </a:p>
          <a:p>
            <a:r>
              <a:rPr lang="en-IN" sz="2000" dirty="0" err="1"/>
              <a:t>Preprocessed</a:t>
            </a:r>
            <a:r>
              <a:rPr lang="en-IN" sz="2000" dirty="0"/>
              <a:t> and organized the dataset using </a:t>
            </a:r>
            <a:r>
              <a:rPr lang="en-IN" sz="2000" b="1" dirty="0" err="1"/>
              <a:t>Roboflow</a:t>
            </a:r>
            <a:r>
              <a:rPr lang="en-IN" sz="2000" dirty="0"/>
              <a:t>.</a:t>
            </a:r>
          </a:p>
          <a:p>
            <a:r>
              <a:rPr lang="en-IN" sz="2000" dirty="0"/>
              <a:t>Trained the </a:t>
            </a:r>
            <a:r>
              <a:rPr lang="en-IN" sz="2000" b="1" dirty="0"/>
              <a:t>YOLOv8n</a:t>
            </a:r>
            <a:r>
              <a:rPr lang="en-IN" sz="2000" dirty="0"/>
              <a:t> model using </a:t>
            </a:r>
            <a:r>
              <a:rPr lang="en-IN" sz="2000" b="1" dirty="0"/>
              <a:t>Google </a:t>
            </a:r>
            <a:r>
              <a:rPr lang="en-IN" sz="2000" b="1" dirty="0" err="1"/>
              <a:t>Colab</a:t>
            </a:r>
            <a:r>
              <a:rPr lang="en-IN" sz="2000" dirty="0"/>
              <a:t>.</a:t>
            </a:r>
          </a:p>
          <a:p>
            <a:r>
              <a:rPr lang="en-IN" sz="2000" dirty="0"/>
              <a:t>Evaluated the model using </a:t>
            </a:r>
            <a:r>
              <a:rPr lang="en-IN" sz="2000" b="1" dirty="0"/>
              <a:t>Precision, Recall, and </a:t>
            </a:r>
            <a:r>
              <a:rPr lang="en-IN" sz="2000" b="1" dirty="0" err="1"/>
              <a:t>mAP</a:t>
            </a:r>
            <a:r>
              <a:rPr lang="en-IN" sz="2000" dirty="0"/>
              <a:t> metrics.</a:t>
            </a:r>
          </a:p>
          <a:p>
            <a:r>
              <a:rPr lang="en-IN" sz="2000" b="1" dirty="0"/>
              <a:t>Tested</a:t>
            </a:r>
            <a:r>
              <a:rPr lang="en-IN" sz="2000" dirty="0"/>
              <a:t> the trained model on classroom images and videos.</a:t>
            </a:r>
          </a:p>
          <a:p>
            <a:r>
              <a:rPr lang="en-IN" sz="2000" b="1" dirty="0"/>
              <a:t>Detected</a:t>
            </a:r>
            <a:r>
              <a:rPr lang="en-IN" sz="2000" dirty="0"/>
              <a:t> student behaviours and generated behaviour counts for </a:t>
            </a:r>
            <a:r>
              <a:rPr lang="en-IN" sz="2000" b="1" dirty="0"/>
              <a:t>analysis</a:t>
            </a:r>
            <a:r>
              <a:rPr lang="en-IN" sz="2000" dirty="0"/>
              <a:t>.</a:t>
            </a:r>
          </a:p>
        </p:txBody>
      </p:sp>
      <p:pic>
        <p:nvPicPr>
          <p:cNvPr id="7" name="Content Placeholder 6">
            <a:extLst>
              <a:ext uri="{FF2B5EF4-FFF2-40B4-BE49-F238E27FC236}">
                <a16:creationId xmlns:a16="http://schemas.microsoft.com/office/drawing/2014/main" id="{1457E8B9-F662-AEA4-6A50-61C4EFBA2B8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37287" y="1072454"/>
            <a:ext cx="5275133" cy="3956746"/>
          </a:xfrm>
        </p:spPr>
      </p:pic>
      <p:sp>
        <p:nvSpPr>
          <p:cNvPr id="5" name="Slide Number Placeholder 4">
            <a:extLst>
              <a:ext uri="{FF2B5EF4-FFF2-40B4-BE49-F238E27FC236}">
                <a16:creationId xmlns:a16="http://schemas.microsoft.com/office/drawing/2014/main" id="{D1E718CF-D8D0-6CFD-7A00-D23978BA6ECA}"/>
              </a:ext>
            </a:extLst>
          </p:cNvPr>
          <p:cNvSpPr>
            <a:spLocks noGrp="1"/>
          </p:cNvSpPr>
          <p:nvPr>
            <p:ph type="sldNum" sz="quarter" idx="12"/>
          </p:nvPr>
        </p:nvSpPr>
        <p:spPr/>
        <p:txBody>
          <a:bodyPr/>
          <a:lstStyle/>
          <a:p>
            <a:pPr>
              <a:defRPr/>
            </a:pPr>
            <a:fld id="{010EC4D6-2A5D-45C1-86E3-8BE19A62D209}" type="slidenum">
              <a:rPr lang="en-US" altLang="en-US" smtClean="0"/>
              <a:pPr>
                <a:defRPr/>
              </a:pPr>
              <a:t>7</a:t>
            </a:fld>
            <a:endParaRPr lang="en-US" altLang="en-US"/>
          </a:p>
        </p:txBody>
      </p:sp>
    </p:spTree>
    <p:extLst>
      <p:ext uri="{BB962C8B-B14F-4D97-AF65-F5344CB8AC3E}">
        <p14:creationId xmlns:p14="http://schemas.microsoft.com/office/powerpoint/2010/main" val="2129025419"/>
      </p:ext>
    </p:extLst>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4DBBE-F9DD-F909-0EE4-5619D88824ED}"/>
              </a:ext>
            </a:extLst>
          </p:cNvPr>
          <p:cNvSpPr>
            <a:spLocks noGrp="1"/>
          </p:cNvSpPr>
          <p:nvPr>
            <p:ph type="title"/>
          </p:nvPr>
        </p:nvSpPr>
        <p:spPr>
          <a:xfrm>
            <a:off x="762000" y="-176051"/>
            <a:ext cx="10515600" cy="1325563"/>
          </a:xfrm>
        </p:spPr>
        <p:txBody>
          <a:bodyPr/>
          <a:lstStyle/>
          <a:p>
            <a:r>
              <a:rPr lang="en-IN" dirty="0">
                <a:solidFill>
                  <a:schemeClr val="accent1">
                    <a:lumMod val="75000"/>
                  </a:schemeClr>
                </a:solidFill>
                <a:latin typeface="Times New Roman" panose="02020603050405020304" pitchFamily="18" charset="0"/>
                <a:cs typeface="Times New Roman" panose="02020603050405020304" pitchFamily="18" charset="0"/>
              </a:rPr>
              <a:t>Implementation</a:t>
            </a:r>
          </a:p>
        </p:txBody>
      </p:sp>
      <p:sp>
        <p:nvSpPr>
          <p:cNvPr id="3" name="Content Placeholder 2">
            <a:extLst>
              <a:ext uri="{FF2B5EF4-FFF2-40B4-BE49-F238E27FC236}">
                <a16:creationId xmlns:a16="http://schemas.microsoft.com/office/drawing/2014/main" id="{F1404323-CEA6-FED1-D508-FACAFA709EC2}"/>
              </a:ext>
            </a:extLst>
          </p:cNvPr>
          <p:cNvSpPr>
            <a:spLocks noGrp="1"/>
          </p:cNvSpPr>
          <p:nvPr>
            <p:ph sz="half" idx="1"/>
          </p:nvPr>
        </p:nvSpPr>
        <p:spPr>
          <a:xfrm>
            <a:off x="558281" y="1097886"/>
            <a:ext cx="5181600" cy="3884710"/>
          </a:xfrm>
        </p:spPr>
        <p:txBody>
          <a:bodyPr/>
          <a:lstStyle/>
          <a:p>
            <a:r>
              <a:rPr lang="en-IN" sz="2000" dirty="0"/>
              <a:t>Imported the required Python libraries, including </a:t>
            </a:r>
            <a:r>
              <a:rPr lang="en-IN" sz="2000" b="1" dirty="0" err="1"/>
              <a:t>Ultralytics</a:t>
            </a:r>
            <a:r>
              <a:rPr lang="en-IN" sz="2000" b="1" dirty="0"/>
              <a:t> YOLOv8, OpenCV, and Matplotlib</a:t>
            </a:r>
            <a:r>
              <a:rPr lang="en-IN" sz="2000" dirty="0"/>
              <a:t>.</a:t>
            </a:r>
          </a:p>
          <a:p>
            <a:r>
              <a:rPr lang="en-IN" sz="2000" dirty="0"/>
              <a:t>Loaded the prepared dataset into </a:t>
            </a:r>
            <a:r>
              <a:rPr lang="en-IN" sz="2000" b="1" dirty="0"/>
              <a:t>Google </a:t>
            </a:r>
            <a:r>
              <a:rPr lang="en-IN" sz="2000" b="1" dirty="0" err="1"/>
              <a:t>Colab</a:t>
            </a:r>
            <a:r>
              <a:rPr lang="en-IN" sz="2000" dirty="0"/>
              <a:t> for model training</a:t>
            </a:r>
          </a:p>
          <a:p>
            <a:r>
              <a:rPr lang="en-IN" sz="2000" dirty="0"/>
              <a:t>Trained the </a:t>
            </a:r>
            <a:r>
              <a:rPr lang="en-IN" sz="2000" b="1" dirty="0"/>
              <a:t>YOLOv8n</a:t>
            </a:r>
            <a:r>
              <a:rPr lang="en-IN" sz="2000" dirty="0"/>
              <a:t> model for </a:t>
            </a:r>
            <a:r>
              <a:rPr lang="en-IN" sz="2000" b="1" dirty="0"/>
              <a:t>50 epochs</a:t>
            </a:r>
            <a:r>
              <a:rPr lang="en-IN" sz="2000" dirty="0"/>
              <a:t> using the classroom behaviour dataset.</a:t>
            </a:r>
          </a:p>
          <a:p>
            <a:r>
              <a:rPr lang="en-IN" sz="2000" dirty="0"/>
              <a:t>Monitored training performance through </a:t>
            </a:r>
            <a:r>
              <a:rPr lang="en-IN" sz="2000" b="1" dirty="0"/>
              <a:t>loss graphs and evaluation metrics</a:t>
            </a:r>
            <a:r>
              <a:rPr lang="en-IN" sz="2000" dirty="0"/>
              <a:t>.</a:t>
            </a:r>
          </a:p>
          <a:p>
            <a:r>
              <a:rPr lang="en-IN" sz="2000" dirty="0"/>
              <a:t>Saved the best-performing model (</a:t>
            </a:r>
            <a:r>
              <a:rPr lang="en-IN" sz="2000" b="1" dirty="0"/>
              <a:t>best.pt</a:t>
            </a:r>
            <a:r>
              <a:rPr lang="en-IN" sz="2000" dirty="0"/>
              <a:t>) for testing and prediction.</a:t>
            </a:r>
          </a:p>
          <a:p>
            <a:endParaRPr lang="en-IN" sz="2400" dirty="0"/>
          </a:p>
        </p:txBody>
      </p:sp>
      <p:sp>
        <p:nvSpPr>
          <p:cNvPr id="5" name="Slide Number Placeholder 4">
            <a:extLst>
              <a:ext uri="{FF2B5EF4-FFF2-40B4-BE49-F238E27FC236}">
                <a16:creationId xmlns:a16="http://schemas.microsoft.com/office/drawing/2014/main" id="{522DA409-AF0A-37EB-4CBD-B0C549E65E88}"/>
              </a:ext>
            </a:extLst>
          </p:cNvPr>
          <p:cNvSpPr>
            <a:spLocks noGrp="1"/>
          </p:cNvSpPr>
          <p:nvPr>
            <p:ph type="sldNum" sz="quarter" idx="12"/>
          </p:nvPr>
        </p:nvSpPr>
        <p:spPr/>
        <p:txBody>
          <a:bodyPr/>
          <a:lstStyle/>
          <a:p>
            <a:pPr>
              <a:defRPr/>
            </a:pPr>
            <a:fld id="{010EC4D6-2A5D-45C1-86E3-8BE19A62D209}" type="slidenum">
              <a:rPr lang="en-US" altLang="en-US" smtClean="0"/>
              <a:pPr>
                <a:defRPr/>
              </a:pPr>
              <a:t>8</a:t>
            </a:fld>
            <a:endParaRPr lang="en-US" altLang="en-US"/>
          </a:p>
        </p:txBody>
      </p:sp>
      <p:pic>
        <p:nvPicPr>
          <p:cNvPr id="13" name="Content Placeholder 12">
            <a:extLst>
              <a:ext uri="{FF2B5EF4-FFF2-40B4-BE49-F238E27FC236}">
                <a16:creationId xmlns:a16="http://schemas.microsoft.com/office/drawing/2014/main" id="{EB611729-884E-38D3-D4B0-5C9FD568919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04340" y="985919"/>
            <a:ext cx="5504024" cy="3884710"/>
          </a:xfrm>
        </p:spPr>
      </p:pic>
    </p:spTree>
    <p:extLst>
      <p:ext uri="{BB962C8B-B14F-4D97-AF65-F5344CB8AC3E}">
        <p14:creationId xmlns:p14="http://schemas.microsoft.com/office/powerpoint/2010/main" val="4223096185"/>
      </p:ext>
    </p:extLst>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C002D-4AE1-E550-981F-9C56F268DD02}"/>
              </a:ext>
            </a:extLst>
          </p:cNvPr>
          <p:cNvSpPr>
            <a:spLocks noGrp="1"/>
          </p:cNvSpPr>
          <p:nvPr>
            <p:ph type="title"/>
          </p:nvPr>
        </p:nvSpPr>
        <p:spPr>
          <a:xfrm>
            <a:off x="839788" y="-942392"/>
            <a:ext cx="3932237" cy="1600200"/>
          </a:xfrm>
        </p:spPr>
        <p:txBody>
          <a:bodyPr/>
          <a:lstStyle/>
          <a:p>
            <a:r>
              <a:rPr lang="en-IN" dirty="0">
                <a:solidFill>
                  <a:schemeClr val="accent1">
                    <a:lumMod val="75000"/>
                  </a:schemeClr>
                </a:solidFill>
                <a:latin typeface="Times New Roman" panose="02020603050405020304" pitchFamily="18" charset="0"/>
                <a:cs typeface="Times New Roman" panose="02020603050405020304" pitchFamily="18" charset="0"/>
              </a:rPr>
              <a:t>Results</a:t>
            </a:r>
          </a:p>
        </p:txBody>
      </p:sp>
      <p:pic>
        <p:nvPicPr>
          <p:cNvPr id="7" name="detected output 2">
            <a:hlinkClick r:id="" action="ppaction://media"/>
            <a:extLst>
              <a:ext uri="{FF2B5EF4-FFF2-40B4-BE49-F238E27FC236}">
                <a16:creationId xmlns:a16="http://schemas.microsoft.com/office/drawing/2014/main" id="{F3BC97B8-7BF5-C518-9393-5A08018EC7DB}"/>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5607699" y="541176"/>
            <a:ext cx="6167534" cy="4511351"/>
          </a:xfrm>
        </p:spPr>
      </p:pic>
      <p:sp>
        <p:nvSpPr>
          <p:cNvPr id="4" name="Text Placeholder 3">
            <a:extLst>
              <a:ext uri="{FF2B5EF4-FFF2-40B4-BE49-F238E27FC236}">
                <a16:creationId xmlns:a16="http://schemas.microsoft.com/office/drawing/2014/main" id="{842BB6F6-94DB-BA2B-F150-2BA85A5B6DD2}"/>
              </a:ext>
            </a:extLst>
          </p:cNvPr>
          <p:cNvSpPr>
            <a:spLocks noGrp="1"/>
          </p:cNvSpPr>
          <p:nvPr>
            <p:ph type="body" sz="half" idx="2"/>
          </p:nvPr>
        </p:nvSpPr>
        <p:spPr>
          <a:xfrm>
            <a:off x="755813" y="657808"/>
            <a:ext cx="3932237" cy="4511351"/>
          </a:xfrm>
        </p:spPr>
        <p:txBody>
          <a:bodyPr/>
          <a:lstStyle/>
          <a:p>
            <a:pPr marL="285750" indent="-285750">
              <a:buFont typeface="Arial" panose="020B0604020202020204" pitchFamily="34" charset="0"/>
              <a:buChar char="•"/>
            </a:pPr>
            <a:r>
              <a:rPr lang="en-IN" dirty="0"/>
              <a:t>Successfully trained the </a:t>
            </a:r>
            <a:r>
              <a:rPr lang="en-IN" b="1" dirty="0"/>
              <a:t>YOLOv8n</a:t>
            </a:r>
            <a:r>
              <a:rPr lang="en-IN" dirty="0"/>
              <a:t> model for classroom </a:t>
            </a:r>
            <a:r>
              <a:rPr lang="en-IN" dirty="0" err="1"/>
              <a:t>behavior</a:t>
            </a:r>
            <a:r>
              <a:rPr lang="en-IN" dirty="0"/>
              <a:t> detection.</a:t>
            </a:r>
          </a:p>
          <a:p>
            <a:pPr marL="285750" indent="-285750">
              <a:buFont typeface="Arial" panose="020B0604020202020204" pitchFamily="34" charset="0"/>
              <a:buChar char="•"/>
            </a:pPr>
            <a:r>
              <a:rPr lang="en-IN" dirty="0"/>
              <a:t>Accurately detected </a:t>
            </a:r>
            <a:r>
              <a:rPr lang="en-IN" b="1" dirty="0"/>
              <a:t>8 different student </a:t>
            </a:r>
            <a:r>
              <a:rPr lang="en-IN" b="1" dirty="0" err="1"/>
              <a:t>behaviors</a:t>
            </a:r>
            <a:r>
              <a:rPr lang="en-IN" dirty="0"/>
              <a:t> from classroom images and videos.</a:t>
            </a:r>
          </a:p>
          <a:p>
            <a:pPr marL="285750" indent="-285750">
              <a:buFont typeface="Arial" panose="020B0604020202020204" pitchFamily="34" charset="0"/>
              <a:buChar char="•"/>
            </a:pPr>
            <a:r>
              <a:rPr lang="en-IN" dirty="0"/>
              <a:t>Generated </a:t>
            </a:r>
            <a:r>
              <a:rPr lang="en-IN" b="1" dirty="0"/>
              <a:t>bounding boxes, </a:t>
            </a:r>
            <a:r>
              <a:rPr lang="en-IN" b="1" dirty="0" err="1"/>
              <a:t>behavior</a:t>
            </a:r>
            <a:r>
              <a:rPr lang="en-IN" b="1" dirty="0"/>
              <a:t> labels, and confidence scores</a:t>
            </a:r>
            <a:r>
              <a:rPr lang="en-IN" dirty="0"/>
              <a:t> for each detected object.</a:t>
            </a:r>
          </a:p>
          <a:p>
            <a:pPr marL="285750" indent="-285750">
              <a:buFont typeface="Arial" panose="020B0604020202020204" pitchFamily="34" charset="0"/>
              <a:buChar char="•"/>
            </a:pPr>
            <a:r>
              <a:rPr lang="en-IN" dirty="0"/>
              <a:t>Implemented </a:t>
            </a:r>
            <a:r>
              <a:rPr lang="en-IN" b="1" dirty="0" err="1"/>
              <a:t>behavior</a:t>
            </a:r>
            <a:r>
              <a:rPr lang="en-IN" b="1" dirty="0"/>
              <a:t> counting</a:t>
            </a:r>
            <a:r>
              <a:rPr lang="en-IN" dirty="0"/>
              <a:t> for classroom activity analysis.</a:t>
            </a:r>
          </a:p>
          <a:p>
            <a:pPr marL="285750" indent="-285750">
              <a:buFont typeface="Arial" panose="020B0604020202020204" pitchFamily="34" charset="0"/>
              <a:buChar char="•"/>
            </a:pPr>
            <a:r>
              <a:rPr lang="en-IN" dirty="0"/>
              <a:t>Demonstrated the effectiveness of </a:t>
            </a:r>
            <a:r>
              <a:rPr lang="en-IN" b="1" dirty="0"/>
              <a:t>Computer Vision</a:t>
            </a:r>
            <a:r>
              <a:rPr lang="en-IN" dirty="0"/>
              <a:t> for smart classroom monitoring.</a:t>
            </a:r>
          </a:p>
          <a:p>
            <a:pPr marL="285750" indent="-285750">
              <a:buFont typeface="Arial" panose="020B0604020202020204" pitchFamily="34" charset="0"/>
              <a:buChar char="•"/>
            </a:pPr>
            <a:r>
              <a:rPr lang="en-IN" b="1" dirty="0"/>
              <a:t>Achieved </a:t>
            </a:r>
            <a:r>
              <a:rPr lang="en-IN" dirty="0"/>
              <a:t>the project objectives by developing a reliable </a:t>
            </a:r>
            <a:r>
              <a:rPr lang="en-IN" b="1" dirty="0"/>
              <a:t>AI-based</a:t>
            </a:r>
            <a:r>
              <a:rPr lang="en-IN" dirty="0"/>
              <a:t> </a:t>
            </a:r>
            <a:r>
              <a:rPr lang="en-IN" dirty="0" err="1"/>
              <a:t>behavior</a:t>
            </a:r>
            <a:r>
              <a:rPr lang="en-IN" dirty="0"/>
              <a:t> detection system.</a:t>
            </a:r>
          </a:p>
        </p:txBody>
      </p:sp>
      <p:sp>
        <p:nvSpPr>
          <p:cNvPr id="5" name="Slide Number Placeholder 4">
            <a:extLst>
              <a:ext uri="{FF2B5EF4-FFF2-40B4-BE49-F238E27FC236}">
                <a16:creationId xmlns:a16="http://schemas.microsoft.com/office/drawing/2014/main" id="{E0264BF7-C21B-B799-A294-58BF5043E92C}"/>
              </a:ext>
            </a:extLst>
          </p:cNvPr>
          <p:cNvSpPr>
            <a:spLocks noGrp="1"/>
          </p:cNvSpPr>
          <p:nvPr>
            <p:ph type="sldNum" sz="quarter" idx="12"/>
          </p:nvPr>
        </p:nvSpPr>
        <p:spPr/>
        <p:txBody>
          <a:bodyPr/>
          <a:lstStyle/>
          <a:p>
            <a:pPr>
              <a:defRPr/>
            </a:pPr>
            <a:fld id="{7CD429D7-E526-4101-969E-B40B8D8E48CC}" type="slidenum">
              <a:rPr lang="en-US" altLang="en-US" smtClean="0"/>
              <a:pPr>
                <a:defRPr/>
              </a:pPr>
              <a:t>9</a:t>
            </a:fld>
            <a:endParaRPr lang="en-US" altLang="en-US"/>
          </a:p>
        </p:txBody>
      </p:sp>
    </p:spTree>
    <p:extLst>
      <p:ext uri="{BB962C8B-B14F-4D97-AF65-F5344CB8AC3E}">
        <p14:creationId xmlns:p14="http://schemas.microsoft.com/office/powerpoint/2010/main" val="852203533"/>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40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Conclusion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IN" dirty="0"/>
              <a:t>Successfully trained the </a:t>
            </a:r>
            <a:r>
              <a:rPr lang="en-IN" b="1" dirty="0"/>
              <a:t>YOLOv8n</a:t>
            </a:r>
            <a:r>
              <a:rPr lang="en-IN" dirty="0"/>
              <a:t> model for classroom </a:t>
            </a:r>
            <a:r>
              <a:rPr lang="en-IN" dirty="0" err="1"/>
              <a:t>behavior</a:t>
            </a:r>
            <a:r>
              <a:rPr lang="en-IN" dirty="0"/>
              <a:t> detection</a:t>
            </a:r>
          </a:p>
          <a:p>
            <a:r>
              <a:rPr lang="en-IN" dirty="0"/>
              <a:t>Accurately detected </a:t>
            </a:r>
            <a:r>
              <a:rPr lang="en-IN" b="1" dirty="0"/>
              <a:t>8 different student </a:t>
            </a:r>
            <a:r>
              <a:rPr lang="en-IN" b="1" dirty="0" err="1"/>
              <a:t>behaviors</a:t>
            </a:r>
            <a:r>
              <a:rPr lang="en-IN" dirty="0"/>
              <a:t> from classroom images and videos</a:t>
            </a:r>
          </a:p>
          <a:p>
            <a:r>
              <a:rPr lang="en-IN" dirty="0"/>
              <a:t>Generated </a:t>
            </a:r>
            <a:r>
              <a:rPr lang="en-IN" b="1" dirty="0"/>
              <a:t>bounding boxes, </a:t>
            </a:r>
            <a:r>
              <a:rPr lang="en-IN" b="1" dirty="0" err="1"/>
              <a:t>behavior</a:t>
            </a:r>
            <a:r>
              <a:rPr lang="en-IN" b="1" dirty="0"/>
              <a:t> labels, and confidence scores</a:t>
            </a:r>
            <a:r>
              <a:rPr lang="en-IN" dirty="0"/>
              <a:t> for each detected object.</a:t>
            </a:r>
          </a:p>
          <a:p>
            <a:r>
              <a:rPr lang="en-IN" dirty="0"/>
              <a:t>Implemented </a:t>
            </a:r>
            <a:r>
              <a:rPr lang="en-IN" b="1" dirty="0" err="1"/>
              <a:t>behavior</a:t>
            </a:r>
            <a:r>
              <a:rPr lang="en-IN" b="1" dirty="0"/>
              <a:t> counting</a:t>
            </a:r>
            <a:r>
              <a:rPr lang="en-IN" dirty="0"/>
              <a:t> for classroom activity analysis.</a:t>
            </a:r>
          </a:p>
          <a:p>
            <a:r>
              <a:rPr lang="en-IN" dirty="0"/>
              <a:t>Demonstrated the effectiveness of </a:t>
            </a:r>
            <a:r>
              <a:rPr lang="en-IN" b="1" dirty="0"/>
              <a:t>Computer Vision</a:t>
            </a:r>
            <a:r>
              <a:rPr lang="en-IN" dirty="0"/>
              <a:t> for smart classroom monitoring.</a:t>
            </a:r>
            <a:endParaRPr lang="en-US" dirty="0"/>
          </a:p>
        </p:txBody>
      </p:sp>
    </p:spTree>
    <p:extLst>
      <p:ext uri="{BB962C8B-B14F-4D97-AF65-F5344CB8AC3E}">
        <p14:creationId xmlns:p14="http://schemas.microsoft.com/office/powerpoint/2010/main" val="3437392139"/>
      </p:ext>
    </p:extLst>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11</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8975439"/>
      </p:ext>
    </p:extLst>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Tree>
    <p:extLst>
      <p:ext uri="{BB962C8B-B14F-4D97-AF65-F5344CB8AC3E}">
        <p14:creationId xmlns:p14="http://schemas.microsoft.com/office/powerpoint/2010/main" val="3798440382"/>
      </p:ext>
    </p:extLst>
  </p:cSld>
  <p:clrMapOvr>
    <a:masterClrMapping/>
  </p:clrMapOvr>
  <p:transition spd="slow">
    <p:blinds dir="vert"/>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7865</TotalTime>
  <Words>682</Words>
  <Application>Microsoft Office PowerPoint</Application>
  <PresentationFormat>Widescreen</PresentationFormat>
  <Paragraphs>90</Paragraphs>
  <Slides>12</Slides>
  <Notes>2</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About Company or Organization</vt:lpstr>
      <vt:lpstr>Working domain or the technology</vt:lpstr>
      <vt:lpstr>Objectives of the work</vt:lpstr>
      <vt:lpstr>Methodology Used</vt:lpstr>
      <vt:lpstr>Implementation</vt:lpstr>
      <vt:lpstr>Results</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Preeteesh</dc:creator>
  <cp:lastModifiedBy>Vanisha babu</cp:lastModifiedBy>
  <cp:revision>942</cp:revision>
  <cp:lastPrinted>2018-07-24T06:37:20Z</cp:lastPrinted>
  <dcterms:created xsi:type="dcterms:W3CDTF">2018-06-07T04:06:17Z</dcterms:created>
  <dcterms:modified xsi:type="dcterms:W3CDTF">2026-07-21T06:47:52Z</dcterms:modified>
</cp:coreProperties>
</file>